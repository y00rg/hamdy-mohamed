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8" r:id="rId2"/>
    <p:sldId id="26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066735-8E40-4DA4-B7CB-1DD92543A839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28385-8EFA-46AD-A111-091196D53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48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80B048-AEEC-40A1-BF73-E44AE26442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9189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80B048-AEEC-40A1-BF73-E44AE26442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0125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36C081-93D5-4802-9CF0-83D69715F56B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5/29/2023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ADF4EE-D56B-4357-9151-5208B0E4BD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6530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7EA250-5F25-4876-9D48-860A23D78B9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5/29/2023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ADF4EE-D56B-4357-9151-5208B0E4BD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5906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78C87-BB62-40A4-A8A0-779B1605B51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5/29/2023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ADF4EE-D56B-4357-9151-5208B0E4BD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2345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EADE30-DBD8-41A6-AA1D-F7BB90B6479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5/29/2023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ADF4EE-D56B-4357-9151-5208B0E4BD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1677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EAE4B6-D2C6-4755-9BC0-B0CD928C5FD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5/29/2023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ADF4EE-D56B-4357-9151-5208B0E4BD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3434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5FD1B8-5B8C-4067-A0A8-C89ACF36A32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5/29/2023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ADF4EE-D56B-4357-9151-5208B0E4BD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7207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ADAE5C-D8FE-4EA6-B3CD-D696257EA42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5/29/2023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ADF4EE-D56B-4357-9151-5208B0E4BD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763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BFEC4-2C14-4D3B-9F7F-878F61E468C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5/29/2023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ADF4EE-D56B-4357-9151-5208B0E4BD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4050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C55802-761E-4454-B455-9D1E01AE030B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5/29/2023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ADF4EE-D56B-4357-9151-5208B0E4BD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3017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1EA95C-ED9C-431E-8B1F-7937733ABAC8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5/29/2023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ADF4EE-D56B-4357-9151-5208B0E4BD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7424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17282F-D889-4AA6-8758-A6FC90D1CE1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5/29/2023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ADF4EE-D56B-4357-9151-5208B0E4BD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2104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74C109-AD26-4947-B7B0-0410C35B021D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5/29/2023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ADF4EE-D56B-4357-9151-5208B0E4BD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1209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1.pn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6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7.png"/><Relationship Id="rId9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9341" y="360220"/>
            <a:ext cx="4396509" cy="51354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>
              <a:solidFill>
                <a:srgbClr val="00B2C3"/>
              </a:solidFill>
            </a:endParaRPr>
          </a:p>
          <a:p>
            <a:pPr marL="0" indent="0">
              <a:buNone/>
            </a:pPr>
            <a:r>
              <a:rPr lang="en-US" b="1" u="sng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Customer Facing</a:t>
            </a:r>
          </a:p>
          <a:p>
            <a:pPr marL="0" indent="0">
              <a:buNone/>
            </a:pPr>
            <a:r>
              <a:rPr lang="en-US" u="sng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Sunday </a:t>
            </a:r>
            <a:r>
              <a:rPr lang="en-US" u="sng" dirty="0">
                <a:solidFill>
                  <a:srgbClr val="FF0000"/>
                </a:solidFill>
                <a:latin typeface="Arial Narrow" panose="020B0606020202030204" pitchFamily="34" charset="0"/>
              </a:rPr>
              <a:t>to </a:t>
            </a:r>
            <a:r>
              <a:rPr lang="en-US" u="sng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Thursday attire</a:t>
            </a:r>
          </a:p>
          <a:p>
            <a:pPr marL="0" lvl="0" indent="0">
              <a:buNone/>
            </a:pPr>
            <a:r>
              <a:rPr lang="en-US" sz="2400" b="1" dirty="0">
                <a:solidFill>
                  <a:srgbClr val="0070C0"/>
                </a:solidFill>
                <a:latin typeface="Arial Narrow" panose="020B0606020202030204" pitchFamily="34" charset="0"/>
              </a:rPr>
              <a:t>Male</a:t>
            </a:r>
            <a:r>
              <a:rPr lang="en-US" b="1" dirty="0">
                <a:solidFill>
                  <a:srgbClr val="0070C0"/>
                </a:solidFill>
                <a:latin typeface="Arial Narrow" panose="020B0606020202030204" pitchFamily="34" charset="0"/>
              </a:rPr>
              <a:t> </a:t>
            </a:r>
            <a:r>
              <a:rPr lang="en-US" b="1" dirty="0" smtClean="0">
                <a:solidFill>
                  <a:srgbClr val="0070C0"/>
                </a:solidFill>
                <a:latin typeface="Arial Narrow" panose="020B0606020202030204" pitchFamily="34" charset="0"/>
              </a:rPr>
              <a:t>&amp; </a:t>
            </a:r>
            <a:r>
              <a:rPr lang="en-US" sz="2400" b="1" dirty="0">
                <a:solidFill>
                  <a:srgbClr val="0070C0"/>
                </a:solidFill>
                <a:latin typeface="Arial Narrow" panose="020B0606020202030204" pitchFamily="34" charset="0"/>
              </a:rPr>
              <a:t>Female</a:t>
            </a:r>
            <a:r>
              <a:rPr lang="en-US" b="1" dirty="0" smtClean="0">
                <a:solidFill>
                  <a:srgbClr val="0070C0"/>
                </a:solidFill>
                <a:latin typeface="Arial Narrow" panose="020B0606020202030204" pitchFamily="34" charset="0"/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  <a:latin typeface="Arial Narrow" panose="020B0606020202030204" pitchFamily="34" charset="0"/>
              </a:rPr>
              <a:t>Attire</a:t>
            </a:r>
          </a:p>
          <a:p>
            <a:pPr marL="0" lvl="0" indent="0">
              <a:buNone/>
            </a:pPr>
            <a:endParaRPr lang="en-US" dirty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900" dirty="0">
                <a:solidFill>
                  <a:schemeClr val="dk1"/>
                </a:solidFill>
                <a:latin typeface="Arial Narrow" panose="020B0606020202030204" pitchFamily="34" charset="0"/>
              </a:rPr>
              <a:t>Female employees should obligate to </a:t>
            </a:r>
            <a:r>
              <a:rPr lang="en-US" sz="1900" dirty="0" smtClean="0">
                <a:solidFill>
                  <a:schemeClr val="dk1"/>
                </a:solidFill>
                <a:latin typeface="Arial Narrow" panose="020B0606020202030204" pitchFamily="34" charset="0"/>
              </a:rPr>
              <a:t>formal </a:t>
            </a:r>
            <a:r>
              <a:rPr lang="en-US" sz="1900" dirty="0">
                <a:solidFill>
                  <a:schemeClr val="dk1"/>
                </a:solidFill>
                <a:latin typeface="Arial Narrow" panose="020B0606020202030204" pitchFamily="34" charset="0"/>
              </a:rPr>
              <a:t>outfit, not transparent or extra tight. Mini length outfits are not </a:t>
            </a:r>
            <a:r>
              <a:rPr lang="en-US" sz="1900" dirty="0" smtClean="0">
                <a:solidFill>
                  <a:schemeClr val="dk1"/>
                </a:solidFill>
                <a:latin typeface="Arial Narrow" panose="020B0606020202030204" pitchFamily="34" charset="0"/>
              </a:rPr>
              <a:t>permitted.</a:t>
            </a:r>
            <a:endParaRPr lang="en-US" sz="1900" dirty="0">
              <a:solidFill>
                <a:schemeClr val="dk1"/>
              </a:solidFill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900" dirty="0">
                <a:solidFill>
                  <a:schemeClr val="dk1"/>
                </a:solidFill>
                <a:latin typeface="Arial Narrow" panose="020B0606020202030204" pitchFamily="34" charset="0"/>
              </a:rPr>
              <a:t>Male employees should obligate to business </a:t>
            </a:r>
            <a:r>
              <a:rPr lang="en-US" sz="1900" dirty="0" smtClean="0">
                <a:solidFill>
                  <a:schemeClr val="dk1"/>
                </a:solidFill>
                <a:latin typeface="Arial Narrow" panose="020B0606020202030204" pitchFamily="34" charset="0"/>
              </a:rPr>
              <a:t>suits with </a:t>
            </a:r>
            <a:r>
              <a:rPr lang="en-US" sz="1900" b="1" u="sng" dirty="0">
                <a:solidFill>
                  <a:schemeClr val="dk1"/>
                </a:solidFill>
                <a:latin typeface="Arial Narrow" panose="020B0606020202030204" pitchFamily="34" charset="0"/>
              </a:rPr>
              <a:t>white </a:t>
            </a:r>
            <a:r>
              <a:rPr lang="en-US" sz="1900" b="1" u="sng" dirty="0" smtClean="0">
                <a:solidFill>
                  <a:schemeClr val="dk1"/>
                </a:solidFill>
                <a:latin typeface="Arial Narrow" panose="020B0606020202030204" pitchFamily="34" charset="0"/>
              </a:rPr>
              <a:t>or </a:t>
            </a:r>
            <a:r>
              <a:rPr lang="en-US" sz="1900" b="1" u="sng" dirty="0">
                <a:solidFill>
                  <a:schemeClr val="dk1"/>
                </a:solidFill>
                <a:latin typeface="Arial Narrow" panose="020B0606020202030204" pitchFamily="34" charset="0"/>
              </a:rPr>
              <a:t>blue </a:t>
            </a:r>
            <a:r>
              <a:rPr lang="en-US" sz="1900" b="1" u="sng" dirty="0" smtClean="0">
                <a:solidFill>
                  <a:schemeClr val="dk1"/>
                </a:solidFill>
                <a:latin typeface="Arial Narrow" panose="020B0606020202030204" pitchFamily="34" charset="0"/>
              </a:rPr>
              <a:t>shirts.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900" dirty="0" smtClean="0">
                <a:solidFill>
                  <a:schemeClr val="dk1"/>
                </a:solidFill>
                <a:latin typeface="Arial Narrow" panose="020B0606020202030204" pitchFamily="34" charset="0"/>
              </a:rPr>
              <a:t>For external meetings, employees are expected to maintain the above dress code.</a:t>
            </a:r>
            <a:endParaRPr lang="en-US" sz="1900" dirty="0">
              <a:solidFill>
                <a:schemeClr val="dk1"/>
              </a:solidFill>
              <a:latin typeface="Arial Narrow" panose="020B060602020203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223" t="5197" r="25586" b="79283"/>
          <a:stretch/>
        </p:blipFill>
        <p:spPr>
          <a:xfrm>
            <a:off x="3896011" y="76285"/>
            <a:ext cx="4136720" cy="756704"/>
          </a:xfrm>
          <a:prstGeom prst="rect">
            <a:avLst/>
          </a:prstGeom>
          <a:solidFill>
            <a:srgbClr val="00B0F0"/>
          </a:solidFill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364" y="3261973"/>
            <a:ext cx="2442038" cy="17532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585" y="4919332"/>
            <a:ext cx="2016262" cy="175854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486" y="4919332"/>
            <a:ext cx="1666420" cy="166642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/>
          <a:stretch/>
        </p:blipFill>
        <p:spPr>
          <a:xfrm>
            <a:off x="9336560" y="3648331"/>
            <a:ext cx="1714296" cy="2597418"/>
          </a:xfrm>
          <a:prstGeom prst="rect">
            <a:avLst/>
          </a:prstGeom>
        </p:spPr>
      </p:pic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5630415" y="2175417"/>
            <a:ext cx="6098986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ar-SA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يجب أن تلتزم الموظفات بالزي الرسمي، </a:t>
            </a:r>
            <a:r>
              <a:rPr kumimoji="0" lang="ar-EG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دون ملابس</a:t>
            </a:r>
            <a:r>
              <a:rPr kumimoji="0" lang="ar-EG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شفافة أو ضيقة</a:t>
            </a:r>
            <a:r>
              <a:rPr kumimoji="0" lang="ar-EG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و</a:t>
            </a:r>
            <a:r>
              <a:rPr kumimoji="0" lang="ar-SA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لا يسمح بارتداء الملابس القصيرة.</a:t>
            </a:r>
            <a:endParaRPr lang="en-US" altLang="en-US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ar-SA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يجب أن يلتزم الموظفون ببدلات العمل </a:t>
            </a:r>
            <a:r>
              <a:rPr kumimoji="0" lang="ar-EG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و</a:t>
            </a:r>
            <a:r>
              <a:rPr kumimoji="0" lang="ar-EG" altLang="en-US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القمصان البيضاء أو الزرقاء</a:t>
            </a:r>
            <a:r>
              <a:rPr lang="en-US" altLang="en-US" b="1" u="sng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kumimoji="0" lang="ar-EG" altLang="en-US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ar-SA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بالنسبة للاجتماعات الخارجية ،</a:t>
            </a:r>
            <a:r>
              <a:rPr kumimoji="0" lang="ar-EG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يراعى</a:t>
            </a:r>
            <a:r>
              <a:rPr kumimoji="0" lang="ar-SA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الحفاظ على</a:t>
            </a:r>
            <a:r>
              <a:rPr kumimoji="0" lang="ar-EG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نفس هذه</a:t>
            </a:r>
            <a:r>
              <a:rPr kumimoji="0" lang="ar-SA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قواعد</a:t>
            </a:r>
            <a:r>
              <a:rPr lang="ar-EG" alt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85838" y="631496"/>
            <a:ext cx="3343563" cy="1515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90000"/>
              </a:lnSpc>
              <a:spcBef>
                <a:spcPts val="1000"/>
              </a:spcBef>
            </a:pPr>
            <a:r>
              <a:rPr lang="ar-SA" sz="2400" b="1" u="sng" dirty="0">
                <a:solidFill>
                  <a:srgbClr val="00B0F0"/>
                </a:solidFill>
                <a:latin typeface="Arial Narrow" panose="020B0606020202030204" pitchFamily="34" charset="0"/>
              </a:rPr>
              <a:t>للموظفين الذين يقابلون العملاء</a:t>
            </a:r>
            <a:endParaRPr lang="en-US" sz="2400" b="1" u="sng" dirty="0">
              <a:solidFill>
                <a:srgbClr val="00B0F0"/>
              </a:solidFill>
              <a:latin typeface="Arial Narrow" panose="020B0606020202030204" pitchFamily="34" charset="0"/>
            </a:endParaRPr>
          </a:p>
          <a:p>
            <a:pPr algn="r" rtl="1">
              <a:lnSpc>
                <a:spcPct val="90000"/>
              </a:lnSpc>
              <a:spcBef>
                <a:spcPts val="1000"/>
              </a:spcBef>
            </a:pPr>
            <a:r>
              <a:rPr lang="ar-SA" sz="2400" b="1" u="sng" dirty="0">
                <a:solidFill>
                  <a:srgbClr val="FF0000"/>
                </a:solidFill>
                <a:latin typeface="Arial Narrow" panose="020B0606020202030204" pitchFamily="34" charset="0"/>
              </a:rPr>
              <a:t>الزى من الأحد إلى الخميس</a:t>
            </a:r>
            <a:endParaRPr lang="en-US" sz="2400" b="1" u="sng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algn="r" rtl="1">
              <a:lnSpc>
                <a:spcPct val="90000"/>
              </a:lnSpc>
              <a:spcBef>
                <a:spcPts val="1000"/>
              </a:spcBef>
            </a:pPr>
            <a:r>
              <a:rPr lang="ar-SA" sz="2400" b="1" dirty="0">
                <a:solidFill>
                  <a:srgbClr val="0070C0"/>
                </a:solidFill>
                <a:latin typeface="Arial Narrow" panose="020B0606020202030204" pitchFamily="34" charset="0"/>
              </a:rPr>
              <a:t>الزى الرجالى والنسائي</a:t>
            </a:r>
            <a:endParaRPr lang="en-US" sz="2400" b="1" dirty="0">
              <a:solidFill>
                <a:srgbClr val="0070C0"/>
              </a:solidFill>
              <a:latin typeface="Arial Narrow" panose="020B0606020202030204" pitchFamily="34" charset="0"/>
            </a:endParaRPr>
          </a:p>
          <a:p>
            <a:r>
              <a:rPr lang="en-US" sz="11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51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 descr="image00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11" t="80942" r="33672" b="2981"/>
          <a:stretch/>
        </p:blipFill>
        <p:spPr bwMode="auto">
          <a:xfrm>
            <a:off x="4413753" y="5743288"/>
            <a:ext cx="1209965" cy="979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5" descr="image00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8" t="81094" r="49591" b="3284"/>
          <a:stretch/>
        </p:blipFill>
        <p:spPr bwMode="auto">
          <a:xfrm>
            <a:off x="2912130" y="5786797"/>
            <a:ext cx="1246909" cy="951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86300" y="3464938"/>
            <a:ext cx="6015537" cy="2990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Unacceptable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attire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Non-Collar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T-shirts/shirts, hoodies, T-Shirts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and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Sportswear</a:t>
            </a:r>
            <a:endParaRPr kumimoji="0" lang="ar-EG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b="1" dirty="0" smtClean="0">
                <a:solidFill>
                  <a:prstClr val="black"/>
                </a:solidFill>
                <a:latin typeface="Arial Narrow" panose="020B0606020202030204" pitchFamily="34" charset="0"/>
              </a:rPr>
              <a:t>Shirt out of the pants</a:t>
            </a:r>
          </a:p>
          <a:p>
            <a:pPr marL="285750" lvl="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 smtClean="0">
                <a:solidFill>
                  <a:prstClr val="black"/>
                </a:solidFill>
                <a:latin typeface="Arial Narrow" panose="020B0606020202030204" pitchFamily="34" charset="0"/>
              </a:rPr>
              <a:t>Ripped/Washed Jeans, Sweat Pants, and Leggings, Short Dresses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 smtClean="0">
                <a:solidFill>
                  <a:prstClr val="black"/>
                </a:solidFill>
                <a:latin typeface="Arial Narrow" panose="020B0606020202030204" pitchFamily="34" charset="0"/>
              </a:rPr>
              <a:t>Any </a:t>
            </a:r>
            <a:r>
              <a:rPr lang="en-US" sz="1600" dirty="0">
                <a:solidFill>
                  <a:prstClr val="black"/>
                </a:solidFill>
                <a:latin typeface="Arial Narrow" panose="020B0606020202030204" pitchFamily="34" charset="0"/>
              </a:rPr>
              <a:t>clothing that has words, terms, or pictures that </a:t>
            </a:r>
          </a:p>
          <a:p>
            <a:pPr lvl="0">
              <a:defRPr/>
            </a:pPr>
            <a:r>
              <a:rPr lang="en-US" sz="1600" dirty="0">
                <a:solidFill>
                  <a:prstClr val="black"/>
                </a:solidFill>
                <a:latin typeface="Arial Narrow" panose="020B0606020202030204" pitchFamily="34" charset="0"/>
              </a:rPr>
              <a:t>      may be offensive to other </a:t>
            </a:r>
            <a:r>
              <a:rPr lang="en-US" sz="1600" dirty="0" smtClean="0">
                <a:solidFill>
                  <a:prstClr val="black"/>
                </a:solidFill>
                <a:latin typeface="Arial Narrow" panose="020B0606020202030204" pitchFamily="34" charset="0"/>
              </a:rPr>
              <a:t>employees</a:t>
            </a:r>
            <a:endParaRPr lang="en-US" sz="1600" dirty="0">
              <a:solidFill>
                <a:prstClr val="black"/>
              </a:solidFill>
              <a:latin typeface="Arial Narrow" panose="020B0606020202030204" pitchFamily="34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 smtClean="0">
                <a:solidFill>
                  <a:prstClr val="black"/>
                </a:solidFill>
                <a:latin typeface="Arial Narrow" panose="020B0606020202030204" pitchFamily="34" charset="0"/>
              </a:rPr>
              <a:t>Sandals, flip flops, Crocs</a:t>
            </a:r>
          </a:p>
          <a:p>
            <a:pPr marL="285750" lvl="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 smtClean="0">
                <a:solidFill>
                  <a:prstClr val="black"/>
                </a:solidFill>
                <a:latin typeface="Arial Narrow" panose="020B0606020202030204" pitchFamily="34" charset="0"/>
              </a:rPr>
              <a:t>Reveling clothes and Flashy Colors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 smtClean="0">
                <a:solidFill>
                  <a:prstClr val="black"/>
                </a:solidFill>
                <a:latin typeface="Arial Narrow" panose="020B0606020202030204" pitchFamily="34" charset="0"/>
              </a:rPr>
              <a:t>Caps</a:t>
            </a:r>
            <a:r>
              <a:rPr lang="en-US" sz="1600" dirty="0">
                <a:solidFill>
                  <a:prstClr val="black"/>
                </a:solidFill>
                <a:latin typeface="Arial Narrow" panose="020B0606020202030204" pitchFamily="34" charset="0"/>
              </a:rPr>
              <a:t>, Ice </a:t>
            </a:r>
            <a:r>
              <a:rPr lang="en-US" sz="1600" dirty="0" smtClean="0">
                <a:solidFill>
                  <a:prstClr val="black"/>
                </a:solidFill>
                <a:latin typeface="Arial Narrow" panose="020B0606020202030204" pitchFamily="34" charset="0"/>
              </a:rPr>
              <a:t>Caps (Except veil)</a:t>
            </a:r>
            <a:endParaRPr lang="en-US" sz="1600" dirty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4741" y="1690042"/>
            <a:ext cx="4590866" cy="1755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Acceptable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attire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Shirts,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Polo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Shirts,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Blazers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Jackets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and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Cardigans</a:t>
            </a:r>
            <a:endParaRPr kumimoji="0" lang="ar-EG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 smtClean="0">
                <a:solidFill>
                  <a:prstClr val="black"/>
                </a:solidFill>
                <a:latin typeface="Arial Narrow" panose="020B0606020202030204" pitchFamily="34" charset="0"/>
              </a:rPr>
              <a:t>Blouses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Smart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Pants, Chinos and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Plain Dark Jeans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  <a:defRPr/>
            </a:pPr>
            <a:r>
              <a:rPr lang="en-US" sz="1600" dirty="0" smtClean="0">
                <a:solidFill>
                  <a:prstClr val="black"/>
                </a:solidFill>
                <a:latin typeface="Arial Narrow" panose="020B0606020202030204" pitchFamily="34" charset="0"/>
              </a:rPr>
              <a:t>Leather shoes, </a:t>
            </a:r>
            <a:r>
              <a:rPr lang="en-US" sz="1600" smtClean="0">
                <a:solidFill>
                  <a:prstClr val="black"/>
                </a:solidFill>
                <a:latin typeface="Arial Narrow" panose="020B0606020202030204" pitchFamily="34" charset="0"/>
              </a:rPr>
              <a:t>casual</a:t>
            </a:r>
            <a:r>
              <a:rPr lang="en-US" sz="1600">
                <a:solidFill>
                  <a:prstClr val="black"/>
                </a:solidFill>
                <a:latin typeface="Arial Narrow" panose="020B0606020202030204" pitchFamily="34" charset="0"/>
              </a:rPr>
              <a:t> </a:t>
            </a:r>
            <a:r>
              <a:rPr lang="en-US" sz="1600" smtClean="0">
                <a:solidFill>
                  <a:prstClr val="black"/>
                </a:solidFill>
                <a:latin typeface="Arial Narrow" panose="020B0606020202030204" pitchFamily="34" charset="0"/>
              </a:rPr>
              <a:t>shoes &amp; </a:t>
            </a:r>
            <a:r>
              <a:rPr lang="en-US" sz="1600" dirty="0" smtClean="0">
                <a:solidFill>
                  <a:prstClr val="black"/>
                </a:solidFill>
                <a:latin typeface="Arial Narrow" panose="020B0606020202030204" pitchFamily="34" charset="0"/>
              </a:rPr>
              <a:t>sneakers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525" y="3393752"/>
            <a:ext cx="902471" cy="52673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1926" y="1588446"/>
            <a:ext cx="525407" cy="5284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4375" y="1390650"/>
            <a:ext cx="314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9608" y="414484"/>
            <a:ext cx="3571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00B0F0"/>
                </a:solidFill>
                <a:latin typeface="Arial Narrow" panose="020B0606020202030204" pitchFamily="34" charset="0"/>
              </a:rPr>
              <a:t>Non Customer Facing</a:t>
            </a:r>
          </a:p>
          <a:p>
            <a:r>
              <a:rPr lang="en-US" sz="2400" b="1" u="sng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Thursday</a:t>
            </a:r>
            <a:r>
              <a:rPr lang="en-US" sz="2400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 attire</a:t>
            </a:r>
            <a:endParaRPr lang="en-US" sz="24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lvl="0"/>
            <a:r>
              <a:rPr lang="en-US" sz="2400" b="1" dirty="0">
                <a:solidFill>
                  <a:srgbClr val="0070C0"/>
                </a:solidFill>
                <a:latin typeface="Arial Narrow" panose="020B0606020202030204" pitchFamily="34" charset="0"/>
              </a:rPr>
              <a:t>Male &amp; Female Attire</a:t>
            </a:r>
          </a:p>
        </p:txBody>
      </p:sp>
      <p:pic>
        <p:nvPicPr>
          <p:cNvPr id="1026" name="Picture 2" descr="image001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34"/>
          <a:stretch/>
        </p:blipFill>
        <p:spPr bwMode="auto">
          <a:xfrm>
            <a:off x="5793261" y="4753467"/>
            <a:ext cx="1194803" cy="1998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5793261" y="433537"/>
            <a:ext cx="6096000" cy="559948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ar-SA" sz="2400" b="1" u="sng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للموظفين </a:t>
            </a:r>
            <a:r>
              <a:rPr lang="ar-SA" sz="2400" b="1" u="sng" dirty="0">
                <a:solidFill>
                  <a:srgbClr val="00B0F0"/>
                </a:solidFill>
                <a:latin typeface="Arial Narrow" panose="020B0606020202030204" pitchFamily="34" charset="0"/>
              </a:rPr>
              <a:t>الذين</a:t>
            </a:r>
            <a:r>
              <a:rPr lang="ar-EG" sz="2400" b="1" u="sng" dirty="0">
                <a:solidFill>
                  <a:srgbClr val="00B0F0"/>
                </a:solidFill>
                <a:latin typeface="Arial Narrow" panose="020B0606020202030204" pitchFamily="34" charset="0"/>
              </a:rPr>
              <a:t> لا</a:t>
            </a:r>
            <a:r>
              <a:rPr lang="ar-SA" sz="2400" b="1" u="sng" dirty="0">
                <a:solidFill>
                  <a:srgbClr val="00B0F0"/>
                </a:solidFill>
                <a:latin typeface="Arial Narrow" panose="020B0606020202030204" pitchFamily="34" charset="0"/>
              </a:rPr>
              <a:t> يقابلون العملاء</a:t>
            </a:r>
            <a:endParaRPr lang="en-US" sz="2400" b="1" u="sng" dirty="0">
              <a:solidFill>
                <a:srgbClr val="00B0F0"/>
              </a:solidFill>
              <a:latin typeface="Arial Narrow" panose="020B0606020202030204" pitchFamily="34" charset="0"/>
            </a:endParaRPr>
          </a:p>
          <a:p>
            <a:pPr algn="r" rtl="1">
              <a:lnSpc>
                <a:spcPct val="90000"/>
              </a:lnSpc>
              <a:spcBef>
                <a:spcPts val="1000"/>
              </a:spcBef>
            </a:pPr>
            <a:r>
              <a:rPr lang="ar-SA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الزى </a:t>
            </a:r>
            <a:r>
              <a:rPr lang="ar-EG" sz="2400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يوم </a:t>
            </a:r>
            <a:r>
              <a:rPr lang="ar-EG" sz="2400" b="1" u="sng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الخميس</a:t>
            </a:r>
            <a:endParaRPr lang="en-US" sz="2400" b="1" u="sng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algn="r" rtl="1">
              <a:lnSpc>
                <a:spcPct val="90000"/>
              </a:lnSpc>
              <a:spcBef>
                <a:spcPts val="1000"/>
              </a:spcBef>
            </a:pPr>
            <a:r>
              <a:rPr lang="ar-SA" sz="2400" b="1" dirty="0">
                <a:solidFill>
                  <a:srgbClr val="0070C0"/>
                </a:solidFill>
                <a:latin typeface="Arial Narrow" panose="020B0606020202030204" pitchFamily="34" charset="0"/>
              </a:rPr>
              <a:t>الزى الرجالي والنسائي</a:t>
            </a:r>
            <a:endParaRPr lang="en-US" sz="2400" b="1" dirty="0">
              <a:solidFill>
                <a:srgbClr val="0070C0"/>
              </a:solidFill>
              <a:latin typeface="Arial Narrow" panose="020B0606020202030204" pitchFamily="34" charset="0"/>
            </a:endParaRPr>
          </a:p>
          <a:p>
            <a:pPr algn="r"/>
            <a:r>
              <a:rPr lang="en-US" dirty="0">
                <a:solidFill>
                  <a:srgbClr val="1F497D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/>
            <a:r>
              <a:rPr lang="ar-SA" sz="1600" b="1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الزى المسموح: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 rtl="1"/>
            <a:r>
              <a:rPr lang="en-US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• </a:t>
            </a:r>
            <a:r>
              <a:rPr lang="ar-SA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قمصان، بولو</a:t>
            </a:r>
            <a:r>
              <a:rPr lang="ar-EG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شيرت</a:t>
            </a:r>
            <a:r>
              <a:rPr lang="ar-SA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، </a:t>
            </a:r>
            <a:r>
              <a:rPr lang="ar-SA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بليزر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 rtl="1"/>
            <a:r>
              <a:rPr lang="en-US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• </a:t>
            </a:r>
            <a:r>
              <a:rPr lang="ar-EG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الجاكيت</a:t>
            </a:r>
            <a:r>
              <a:rPr lang="ar-SA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ar-SA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والسترات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 rtl="1"/>
            <a:r>
              <a:rPr lang="en-US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• </a:t>
            </a:r>
            <a:r>
              <a:rPr lang="ar-SA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البلوزات</a:t>
            </a:r>
            <a:endParaRPr lang="ar-EG" sz="1600" dirty="0" smtClean="0">
              <a:solidFill>
                <a:srgbClr val="1F497D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 rtl="1"/>
            <a:r>
              <a:rPr lang="en-US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• </a:t>
            </a:r>
            <a:r>
              <a:rPr lang="ar-SA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بنطلون </a:t>
            </a:r>
            <a:r>
              <a:rPr lang="ar-EG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قماش </a:t>
            </a:r>
            <a:r>
              <a:rPr lang="ar-SA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وجينز غامق </a:t>
            </a:r>
            <a:r>
              <a:rPr lang="ar-SA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سادة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 rtl="1"/>
            <a:r>
              <a:rPr lang="en-US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• </a:t>
            </a:r>
            <a:r>
              <a:rPr lang="ar-SA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أحذية </a:t>
            </a:r>
            <a:r>
              <a:rPr lang="ar-SA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جلدية</a:t>
            </a:r>
            <a:r>
              <a:rPr lang="ar-EG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، كاجوال، سنيكرز</a:t>
            </a:r>
          </a:p>
          <a:p>
            <a:pPr algn="r" rtl="1"/>
            <a:r>
              <a:rPr lang="en-US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• </a:t>
            </a:r>
            <a:r>
              <a:rPr lang="ar-EG" sz="1600" b="1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الق</a:t>
            </a:r>
            <a:r>
              <a:rPr lang="ar-SA" sz="1600" b="1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م</a:t>
            </a:r>
            <a:r>
              <a:rPr lang="ar-EG" sz="1600" b="1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ي</a:t>
            </a:r>
            <a:r>
              <a:rPr lang="ar-SA" sz="1600" b="1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ص</a:t>
            </a:r>
            <a:r>
              <a:rPr lang="ar-EG" sz="1600" b="1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مطوي داخل البنطلون</a:t>
            </a:r>
            <a:endParaRPr lang="en-US" sz="1600" dirty="0" smtClean="0">
              <a:latin typeface="Courier New" panose="02070309020205020404" pitchFamily="49" charset="0"/>
              <a:ea typeface="Calibri" panose="020F0502020204030204" pitchFamily="34" charset="0"/>
            </a:endParaRPr>
          </a:p>
          <a:p>
            <a:pPr algn="r" rtl="1"/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 rtl="1"/>
            <a:r>
              <a:rPr lang="ar-SA" sz="1600" b="1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الزى الغير مسموح: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 rtl="1"/>
            <a:r>
              <a:rPr lang="en-US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• </a:t>
            </a:r>
            <a:r>
              <a:rPr lang="ar-SA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قمصان بدون </a:t>
            </a:r>
            <a:r>
              <a:rPr lang="ar-SA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ياقة،</a:t>
            </a:r>
            <a:r>
              <a:rPr lang="ar-EG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ar-SA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تي </a:t>
            </a:r>
            <a:r>
              <a:rPr lang="ar-SA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شيرت وملابس </a:t>
            </a:r>
            <a:r>
              <a:rPr lang="ar-SA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رياضية</a:t>
            </a:r>
            <a:endParaRPr lang="ar-EG" sz="1600" dirty="0" smtClean="0">
              <a:solidFill>
                <a:srgbClr val="1F497D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 rtl="1"/>
            <a:r>
              <a:rPr lang="en-US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• </a:t>
            </a:r>
            <a:r>
              <a:rPr lang="ar-EG" sz="1600" b="1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الق</a:t>
            </a:r>
            <a:r>
              <a:rPr lang="ar-SA" sz="1600" b="1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م</a:t>
            </a:r>
            <a:r>
              <a:rPr lang="ar-EG" sz="1600" b="1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ي</a:t>
            </a:r>
            <a:r>
              <a:rPr lang="ar-SA" sz="1600" b="1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ص</a:t>
            </a:r>
            <a:r>
              <a:rPr lang="ar-EG" sz="1600" b="1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خارج </a:t>
            </a:r>
            <a:r>
              <a:rPr lang="ar-EG" sz="1600" b="1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البنطلون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 rtl="1"/>
            <a:r>
              <a:rPr lang="en-US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• </a:t>
            </a:r>
            <a:r>
              <a:rPr lang="ar-SA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الجينز الممزق، والفساتين القصيرة</a:t>
            </a: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 rtl="1"/>
            <a:r>
              <a:rPr lang="en-US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• </a:t>
            </a:r>
            <a:r>
              <a:rPr lang="ar-SA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أي ملابس بها كلمات أو مصطلحات أو صور قد تكون مسيئة </a:t>
            </a:r>
            <a:r>
              <a:rPr lang="ar-EG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ل</a:t>
            </a:r>
            <a:r>
              <a:rPr lang="ar-SA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لآخرين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 rtl="1"/>
            <a:r>
              <a:rPr lang="en-US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• </a:t>
            </a:r>
            <a:r>
              <a:rPr lang="ar-SA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صنادل</a:t>
            </a:r>
            <a:r>
              <a:rPr lang="ar-EG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، فليب فلوب، </a:t>
            </a:r>
            <a:r>
              <a:rPr lang="ar-SA" sz="1600" dirty="0" err="1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كروكس</a:t>
            </a:r>
            <a:r>
              <a:rPr lang="ar-SA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 rtl="1"/>
            <a:r>
              <a:rPr lang="en-US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• </a:t>
            </a:r>
            <a:r>
              <a:rPr lang="ar-SA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الملابس</a:t>
            </a:r>
            <a:r>
              <a:rPr lang="ar-EG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الشفافة</a:t>
            </a:r>
            <a:r>
              <a:rPr lang="ar-SA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ar-SA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والألوان </a:t>
            </a:r>
            <a:r>
              <a:rPr lang="ar-EG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اللامعة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 rtl="1"/>
            <a:r>
              <a:rPr lang="en-US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• </a:t>
            </a:r>
            <a:r>
              <a:rPr lang="ar-SA" sz="1600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أغطية الرأس (ما عدا </a:t>
            </a:r>
            <a:r>
              <a:rPr lang="ar-SA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الحجاب</a:t>
            </a:r>
            <a:r>
              <a:rPr lang="en-US" sz="1600" dirty="0" smtClean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</a:t>
            </a:r>
            <a:endParaRPr lang="ar-EG" sz="1600" dirty="0">
              <a:latin typeface="Calibri" panose="020F0502020204030204" pitchFamily="34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pic>
        <p:nvPicPr>
          <p:cNvPr id="19" name="Picture 7" descr="image00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95" t="46512" r="20391" b="30434"/>
          <a:stretch/>
        </p:blipFill>
        <p:spPr bwMode="auto">
          <a:xfrm>
            <a:off x="7306519" y="1069714"/>
            <a:ext cx="853379" cy="2153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4" descr="image002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41" t="32369" r="27062" b="11167"/>
          <a:stretch/>
        </p:blipFill>
        <p:spPr bwMode="auto">
          <a:xfrm>
            <a:off x="5690945" y="450815"/>
            <a:ext cx="1235840" cy="2040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1" r="10495"/>
          <a:stretch/>
        </p:blipFill>
        <p:spPr>
          <a:xfrm>
            <a:off x="3881484" y="1069714"/>
            <a:ext cx="1644073" cy="227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44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324</Words>
  <Application>Microsoft Office PowerPoint</Application>
  <PresentationFormat>Widescreen</PresentationFormat>
  <Paragraphs>55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Wingdings</vt:lpstr>
      <vt:lpstr>1_Office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 Antoun</dc:creator>
  <cp:lastModifiedBy>Sandy Fouad</cp:lastModifiedBy>
  <cp:revision>52</cp:revision>
  <dcterms:created xsi:type="dcterms:W3CDTF">2022-09-21T09:47:38Z</dcterms:created>
  <dcterms:modified xsi:type="dcterms:W3CDTF">2023-05-29T09:44:50Z</dcterms:modified>
</cp:coreProperties>
</file>