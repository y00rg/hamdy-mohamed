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3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1" r:id="rId8"/>
    <p:sldId id="262" r:id="rId9"/>
    <p:sldId id="263" r:id="rId10"/>
    <p:sldId id="264" r:id="rId11"/>
    <p:sldId id="260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07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17DF23-5736-431D-A8D4-1A9722448F7D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17BE19-E189-4229-83E9-94EC36EAB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887161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17BE19-E189-4229-83E9-94EC36EAB89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4240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17BE19-E189-4229-83E9-94EC36EAB89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3289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17BE19-E189-4229-83E9-94EC36EAB89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7913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17BE19-E189-4229-83E9-94EC36EAB89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8566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17BE19-E189-4229-83E9-94EC36EAB89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8520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17BE19-E189-4229-83E9-94EC36EAB89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5303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17BE19-E189-4229-83E9-94EC36EAB89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77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17BE19-E189-4229-83E9-94EC36EAB89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9266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17BE19-E189-4229-83E9-94EC36EAB89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5739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17BE19-E189-4229-83E9-94EC36EAB89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6890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BEDCE1"/>
                </a:solidFill>
                <a:latin typeface="Aptos"/>
              </a:rPr>
              <a:t>DAILY BO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9875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Automation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926080"/>
            <a:ext cx="8961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dirty="0">
                <a:solidFill>
                  <a:srgbClr val="E1EBF0"/>
                </a:solidFill>
                <a:latin typeface="Aptos"/>
              </a:rPr>
              <a:t>From repetitive manual processing to a controlled, repeatable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3977639"/>
            <a:ext cx="2971800" cy="384048"/>
          </a:xfrm>
          <a:prstGeom prst="roundRect">
            <a:avLst/>
          </a:prstGeom>
          <a:solidFill>
            <a:srgbClr val="0F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4014215"/>
            <a:ext cx="297180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dirty="0">
                <a:solidFill>
                  <a:srgbClr val="FFFFFF"/>
                </a:solidFill>
                <a:latin typeface="Aptos"/>
              </a:rPr>
              <a:t>START  →  </a:t>
            </a:r>
            <a:r>
              <a:rPr lang="en-US" sz="1050" b="1" dirty="0">
                <a:solidFill>
                  <a:srgbClr val="FFFFFF"/>
                </a:solidFill>
                <a:latin typeface="Aptos"/>
              </a:rPr>
              <a:t>Mark </a:t>
            </a:r>
            <a:r>
              <a:rPr sz="1050" b="1" dirty="0">
                <a:solidFill>
                  <a:srgbClr val="FFFFFF"/>
                </a:solidFill>
                <a:latin typeface="Aptos"/>
              </a:rPr>
              <a:t>SECURE</a:t>
            </a:r>
            <a:r>
              <a:rPr lang="en-US" sz="1050" b="1" dirty="0">
                <a:solidFill>
                  <a:srgbClr val="FFFFFF"/>
                </a:solidFill>
                <a:latin typeface="Aptos"/>
              </a:rPr>
              <a:t>D</a:t>
            </a:r>
            <a:r>
              <a:rPr sz="1050" b="1" dirty="0">
                <a:solidFill>
                  <a:srgbClr val="FFFFFF"/>
                </a:solidFill>
                <a:latin typeface="Aptos"/>
              </a:rPr>
              <a:t>  →  PRINT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71500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C8D2DA"/>
                </a:solidFill>
                <a:latin typeface="Aptos"/>
              </a:rPr>
              <a:t>Management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0" y="571500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C8D2DA"/>
                </a:solidFill>
                <a:latin typeface="Aptos"/>
              </a:rPr>
              <a:t>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dirty="0">
                <a:solidFill>
                  <a:srgbClr val="1F4E79"/>
                </a:solidFill>
                <a:latin typeface="Aptos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3221" y="828532"/>
            <a:ext cx="1042416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69737D"/>
                </a:solidFill>
                <a:latin typeface="Aptos"/>
              </a:rPr>
              <a:t>Why the automation was developed and what changed</a:t>
            </a:r>
            <a:r>
              <a:rPr lang="en-US" b="1" dirty="0">
                <a:solidFill>
                  <a:srgbClr val="69737D"/>
                </a:solidFill>
                <a:latin typeface="Aptos"/>
              </a:rPr>
              <a:t>?</a:t>
            </a:r>
            <a:endParaRPr b="1" dirty="0">
              <a:solidFill>
                <a:srgbClr val="69737D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94360" y="1225296"/>
            <a:ext cx="914400" cy="45720"/>
          </a:xfrm>
          <a:prstGeom prst="rect">
            <a:avLst/>
          </a:prstGeom>
          <a:solidFill>
            <a:srgbClr val="0F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9737D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342900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64008" cy="352044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719072"/>
            <a:ext cx="3063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Aptos"/>
              </a:rPr>
              <a:t>The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1" y="2018227"/>
            <a:ext cx="3044952" cy="30469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232D37"/>
                </a:solidFill>
                <a:latin typeface="Aptos"/>
              </a:rPr>
              <a:t>The daily BO Settled Report required repeated manual actions, including file handling, identification of secured cases, copy/paste operations, and report preparation.
During high-cycle periods, this created unnecessary workload and increased the opportunity for human error.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554480"/>
            <a:ext cx="342900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70832" y="1554480"/>
            <a:ext cx="64008" cy="3520440"/>
          </a:xfrm>
          <a:prstGeom prst="rect">
            <a:avLst/>
          </a:prstGeom>
          <a:solidFill>
            <a:srgbClr val="0F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719072"/>
            <a:ext cx="3063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Aptos"/>
              </a:rPr>
              <a:t>The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21408"/>
            <a:ext cx="3044952" cy="25545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>
              <a:defRPr sz="1600" b="1">
                <a:solidFill>
                  <a:srgbClr val="232D37"/>
                </a:solidFill>
                <a:latin typeface="Aptos"/>
              </a:defRPr>
            </a:lvl1pPr>
          </a:lstStyle>
          <a:p>
            <a:r>
              <a:rPr dirty="0"/>
              <a:t>A dedicated Excel VBA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(Visual Basic for Applications) Macro</a:t>
            </a:r>
            <a:r>
              <a:rPr dirty="0"/>
              <a:t> automation workflow was developed with a simple GUI.
The workflow controls the sequence of the daily process and automates the major repetitive steps.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3" y="1554480"/>
            <a:ext cx="342900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01583" y="1554480"/>
            <a:ext cx="64008" cy="352044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02752" y="1719072"/>
            <a:ext cx="3063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Aptos"/>
              </a:rPr>
              <a:t>The Outcome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7" y="2034687"/>
            <a:ext cx="3044952" cy="28007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232D37"/>
                </a:solidFill>
                <a:latin typeface="Aptos"/>
              </a:rPr>
              <a:t>A more consistent and repeatable process with less manual intervention, faster execution, and built-in step sequencing.
The </a:t>
            </a:r>
            <a:r>
              <a:rPr lang="en-US" sz="1600" b="1" dirty="0">
                <a:solidFill>
                  <a:srgbClr val="232D37"/>
                </a:solidFill>
                <a:latin typeface="Aptos"/>
              </a:rPr>
              <a:t>Checker Staff</a:t>
            </a:r>
            <a:r>
              <a:rPr sz="1600" b="1" dirty="0">
                <a:solidFill>
                  <a:srgbClr val="232D37"/>
                </a:solidFill>
                <a:latin typeface="Aptos"/>
              </a:rPr>
              <a:t> performs the process through three controlled actions: </a:t>
            </a:r>
            <a:endParaRPr lang="en-US" sz="1600" b="1" dirty="0">
              <a:solidFill>
                <a:srgbClr val="232D37"/>
              </a:solidFill>
              <a:latin typeface="Aptos"/>
            </a:endParaRPr>
          </a:p>
          <a:p>
            <a:pPr algn="l"/>
            <a:r>
              <a:rPr lang="en-US" sz="1600" b="1" dirty="0">
                <a:solidFill>
                  <a:srgbClr val="232D37"/>
                </a:solidFill>
                <a:latin typeface="Aptos"/>
              </a:rPr>
              <a:t>-</a:t>
            </a:r>
            <a:r>
              <a:rPr sz="1600" b="1" dirty="0">
                <a:solidFill>
                  <a:srgbClr val="232D37"/>
                </a:solidFill>
                <a:latin typeface="Aptos"/>
              </a:rPr>
              <a:t>START BO, </a:t>
            </a:r>
            <a:endParaRPr lang="en-US" sz="1600" b="1" dirty="0">
              <a:solidFill>
                <a:srgbClr val="232D37"/>
              </a:solidFill>
              <a:latin typeface="Aptos"/>
            </a:endParaRPr>
          </a:p>
          <a:p>
            <a:pPr algn="l"/>
            <a:r>
              <a:rPr lang="en-US" sz="1600" b="1" dirty="0">
                <a:solidFill>
                  <a:srgbClr val="232D37"/>
                </a:solidFill>
                <a:latin typeface="Aptos"/>
              </a:rPr>
              <a:t>-</a:t>
            </a:r>
            <a:r>
              <a:rPr sz="1600" b="1" dirty="0">
                <a:solidFill>
                  <a:srgbClr val="232D37"/>
                </a:solidFill>
                <a:latin typeface="Aptos"/>
              </a:rPr>
              <a:t>MARK SECURED FILES, </a:t>
            </a:r>
            <a:endParaRPr lang="en-US" sz="1600" b="1" dirty="0">
              <a:solidFill>
                <a:srgbClr val="232D37"/>
              </a:solidFill>
              <a:latin typeface="Aptos"/>
            </a:endParaRPr>
          </a:p>
          <a:p>
            <a:pPr algn="l"/>
            <a:r>
              <a:rPr lang="en-US" sz="1600" b="1" dirty="0">
                <a:solidFill>
                  <a:srgbClr val="232D37"/>
                </a:solidFill>
                <a:latin typeface="Aptos"/>
              </a:rPr>
              <a:t>-</a:t>
            </a:r>
            <a:r>
              <a:rPr sz="1600" b="1" dirty="0">
                <a:solidFill>
                  <a:srgbClr val="232D37"/>
                </a:solidFill>
                <a:latin typeface="Aptos"/>
              </a:rPr>
              <a:t>PRINT</a:t>
            </a:r>
            <a:r>
              <a:rPr lang="en-US" sz="1600" b="1" dirty="0">
                <a:solidFill>
                  <a:srgbClr val="232D37"/>
                </a:solidFill>
                <a:latin typeface="Aptos"/>
              </a:rPr>
              <a:t> </a:t>
            </a:r>
            <a:r>
              <a:rPr sz="1600" b="1" dirty="0">
                <a:solidFill>
                  <a:srgbClr val="232D37"/>
                </a:solidFill>
                <a:latin typeface="Aptos"/>
              </a:rPr>
              <a:t>BO.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607040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dirty="0">
                <a:solidFill>
                  <a:srgbClr val="1F4E79"/>
                </a:solidFill>
                <a:latin typeface="Aptos"/>
              </a:rPr>
              <a:t>Previous Manual</a:t>
            </a:r>
            <a:r>
              <a:rPr lang="en-US" sz="2500" b="1" dirty="0">
                <a:solidFill>
                  <a:srgbClr val="1F4E79"/>
                </a:solidFill>
                <a:latin typeface="Aptos"/>
              </a:rPr>
              <a:t> </a:t>
            </a:r>
            <a:r>
              <a:rPr sz="2500" b="1" dirty="0">
                <a:solidFill>
                  <a:srgbClr val="1F4E79"/>
                </a:solidFill>
                <a:latin typeface="Aptos"/>
              </a:rPr>
              <a:t>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37789"/>
            <a:ext cx="1042416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69737D"/>
                </a:solidFill>
                <a:latin typeface="Aptos"/>
              </a:rPr>
              <a:t>Example: identifying and marking secured files manually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25296"/>
            <a:ext cx="914400" cy="45720"/>
          </a:xfrm>
          <a:prstGeom prst="rect">
            <a:avLst/>
          </a:prstGeom>
          <a:solidFill>
            <a:srgbClr val="0F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9737D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6858000" cy="4526280"/>
          </a:xfrm>
          <a:prstGeom prst="roundRect">
            <a:avLst/>
          </a:prstGeom>
          <a:solidFill>
            <a:srgbClr val="F4F7F9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5559552"/>
            <a:ext cx="6309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9737D"/>
                </a:solidFill>
                <a:latin typeface="Aptos"/>
              </a:rPr>
              <a:t>Manual secured-file identification screen</a:t>
            </a:r>
          </a:p>
        </p:txBody>
      </p:sp>
      <p:sp>
        <p:nvSpPr>
          <p:cNvPr id="9" name="Oval 8"/>
          <p:cNvSpPr/>
          <p:nvPr/>
        </p:nvSpPr>
        <p:spPr>
          <a:xfrm>
            <a:off x="7909560" y="1627632"/>
            <a:ext cx="411480" cy="411480"/>
          </a:xfrm>
          <a:prstGeom prst="ellipse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09560" y="1677924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5632" y="1645920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232D37"/>
                </a:solidFill>
                <a:latin typeface="Aptos"/>
              </a:rPr>
              <a:t>Extract / review BO data</a:t>
            </a:r>
          </a:p>
        </p:txBody>
      </p:sp>
      <p:sp>
        <p:nvSpPr>
          <p:cNvPr id="12" name="Oval 11"/>
          <p:cNvSpPr/>
          <p:nvPr/>
        </p:nvSpPr>
        <p:spPr>
          <a:xfrm>
            <a:off x="7909560" y="2432304"/>
            <a:ext cx="411480" cy="411480"/>
          </a:xfrm>
          <a:prstGeom prst="ellipse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09560" y="2482596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450592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232D37"/>
                </a:solidFill>
                <a:latin typeface="Aptos"/>
              </a:rPr>
              <a:t>Check secured status</a:t>
            </a:r>
          </a:p>
        </p:txBody>
      </p:sp>
      <p:sp>
        <p:nvSpPr>
          <p:cNvPr id="15" name="Oval 14"/>
          <p:cNvSpPr/>
          <p:nvPr/>
        </p:nvSpPr>
        <p:spPr>
          <a:xfrm>
            <a:off x="7909560" y="3236976"/>
            <a:ext cx="411480" cy="411480"/>
          </a:xfrm>
          <a:prstGeom prst="ellipse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09560" y="3287268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85632" y="3255264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232D37"/>
                </a:solidFill>
                <a:latin typeface="Aptos"/>
              </a:rPr>
              <a:t>Identify matching Loan A/C</a:t>
            </a:r>
          </a:p>
        </p:txBody>
      </p:sp>
      <p:sp>
        <p:nvSpPr>
          <p:cNvPr id="18" name="Oval 17"/>
          <p:cNvSpPr/>
          <p:nvPr/>
        </p:nvSpPr>
        <p:spPr>
          <a:xfrm>
            <a:off x="7909560" y="4041648"/>
            <a:ext cx="411480" cy="411480"/>
          </a:xfrm>
          <a:prstGeom prst="ellipse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09560" y="4091939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85632" y="4059935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232D37"/>
                </a:solidFill>
                <a:latin typeface="Aptos"/>
              </a:rPr>
              <a:t>Copy / paste or manually mark</a:t>
            </a:r>
          </a:p>
        </p:txBody>
      </p:sp>
      <p:sp>
        <p:nvSpPr>
          <p:cNvPr id="21" name="Oval 20"/>
          <p:cNvSpPr/>
          <p:nvPr/>
        </p:nvSpPr>
        <p:spPr>
          <a:xfrm>
            <a:off x="7909560" y="4846320"/>
            <a:ext cx="411480" cy="411480"/>
          </a:xfrm>
          <a:prstGeom prst="ellipse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09560" y="489661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4864607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232D37"/>
                </a:solidFill>
                <a:latin typeface="Aptos"/>
              </a:rPr>
              <a:t>Continue report preparation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60" y="5577840"/>
            <a:ext cx="333756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C55A11"/>
                </a:solidFill>
                <a:latin typeface="Aptos"/>
              </a:rPr>
              <a:t>Key issue: the process depended on repetitive manual actions and attention to detail.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3F72B33-0B74-5F3D-8B1C-FD587DE953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396" y="1609344"/>
            <a:ext cx="5781368" cy="436504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dirty="0">
                <a:solidFill>
                  <a:srgbClr val="1F4E79"/>
                </a:solidFill>
                <a:latin typeface="Aptos"/>
              </a:rPr>
              <a:t>What Was Improved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87497"/>
            <a:ext cx="1042416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69737D"/>
                </a:solidFill>
                <a:latin typeface="Aptos"/>
              </a:rPr>
              <a:t>The automation targets the repetitive and error-prone parts of the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25296"/>
            <a:ext cx="914400" cy="45720"/>
          </a:xfrm>
          <a:prstGeom prst="rect">
            <a:avLst/>
          </a:prstGeom>
          <a:solidFill>
            <a:srgbClr val="0F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50292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1000" b="1" dirty="0">
                <a:solidFill>
                  <a:srgbClr val="69737D"/>
                </a:solidFill>
                <a:latin typeface="Aptos"/>
              </a:rPr>
              <a:t>04</a:t>
            </a:r>
            <a:endParaRPr sz="1000" b="1" dirty="0">
              <a:solidFill>
                <a:srgbClr val="69737D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315468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64008" cy="1783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673351"/>
            <a:ext cx="2788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Aptos"/>
              </a:rPr>
              <a:t>Manual file 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075688"/>
            <a:ext cx="2770632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232D37"/>
                </a:solidFill>
                <a:latin typeface="Aptos"/>
              </a:rPr>
              <a:t>Standardized the daily BO preparation and processing sequence.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508760"/>
            <a:ext cx="315468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60520" y="1508760"/>
            <a:ext cx="64008" cy="178308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61688" y="1673351"/>
            <a:ext cx="2788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Aptos"/>
              </a:rPr>
              <a:t>Secured-file identification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52544" y="1992433"/>
            <a:ext cx="2770632" cy="132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232D37"/>
                </a:solidFill>
                <a:latin typeface="Aptos"/>
              </a:rPr>
              <a:t>Automatically</a:t>
            </a:r>
            <a:r>
              <a:rPr sz="1600" b="0" dirty="0">
                <a:solidFill>
                  <a:srgbClr val="232D37"/>
                </a:solidFill>
                <a:latin typeface="Aptos"/>
              </a:rPr>
              <a:t> </a:t>
            </a:r>
            <a:r>
              <a:rPr sz="1600" b="1" dirty="0">
                <a:solidFill>
                  <a:srgbClr val="232D37"/>
                </a:solidFill>
                <a:latin typeface="Aptos"/>
              </a:rPr>
              <a:t>matches Loan A/C against the </a:t>
            </a:r>
            <a:r>
              <a:rPr lang="en-US" sz="1600" b="1" dirty="0">
                <a:solidFill>
                  <a:srgbClr val="232D37"/>
                </a:solidFill>
                <a:latin typeface="Aptos"/>
              </a:rPr>
              <a:t>Product Schema</a:t>
            </a:r>
            <a:r>
              <a:rPr sz="1600" b="1" dirty="0">
                <a:solidFill>
                  <a:srgbClr val="232D37"/>
                </a:solidFill>
                <a:latin typeface="Aptos"/>
              </a:rPr>
              <a:t> data and identifies Fully Secured cases.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1508760"/>
            <a:ext cx="315468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635240" y="1508760"/>
            <a:ext cx="64008" cy="1783080"/>
          </a:xfrm>
          <a:prstGeom prst="rect">
            <a:avLst/>
          </a:prstGeom>
          <a:solidFill>
            <a:srgbClr val="0F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36408" y="1673351"/>
            <a:ext cx="2788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Aptos"/>
              </a:rPr>
              <a:t>Copy / paste operations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36408" y="2075688"/>
            <a:ext cx="2770632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232D37"/>
                </a:solidFill>
                <a:latin typeface="Aptos"/>
              </a:rPr>
              <a:t>Automated movement of BO data into the report template.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657600"/>
            <a:ext cx="315468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3657600"/>
            <a:ext cx="64008" cy="178308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6968" y="3822191"/>
            <a:ext cx="2788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Aptos"/>
              </a:rPr>
              <a:t>Report formatting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4224528"/>
            <a:ext cx="2770632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232D37"/>
                </a:solidFill>
                <a:latin typeface="Aptos"/>
              </a:rPr>
              <a:t>Automated numbering, branch cleaning, borders, font formatting, and AutoFit</a:t>
            </a:r>
            <a:r>
              <a:rPr sz="1050" b="0" dirty="0">
                <a:solidFill>
                  <a:srgbClr val="232D37"/>
                </a:solidFill>
                <a:latin typeface="Aptos"/>
              </a:rPr>
              <a:t>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60520" y="3657600"/>
            <a:ext cx="315468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160520" y="3657600"/>
            <a:ext cx="64008" cy="1783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61688" y="3822191"/>
            <a:ext cx="2788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Aptos"/>
              </a:rPr>
              <a:t>Process sequencing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61688" y="4224528"/>
            <a:ext cx="2770632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dirty="0">
                <a:solidFill>
                  <a:srgbClr val="232D37"/>
                </a:solidFill>
                <a:latin typeface="Aptos"/>
              </a:rPr>
              <a:t>GUI buttons enforce the intended order of execution.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35240" y="3657600"/>
            <a:ext cx="315468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635240" y="3657600"/>
            <a:ext cx="64008" cy="178308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836408" y="3822191"/>
            <a:ext cx="2788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Aptos"/>
              </a:rPr>
              <a:t>User effort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36408" y="4224528"/>
            <a:ext cx="2770632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dirty="0">
                <a:solidFill>
                  <a:srgbClr val="232D37"/>
                </a:solidFill>
                <a:latin typeface="Aptos"/>
              </a:rPr>
              <a:t>Reduced the number of repetitive actions required from the operator.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F4E79"/>
                </a:solidFill>
                <a:latin typeface="Aptos"/>
              </a:rPr>
              <a:t>Automation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66738"/>
            <a:ext cx="1042416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69737D"/>
                </a:solidFill>
                <a:latin typeface="Aptos"/>
              </a:rPr>
              <a:t>Key functions implemented in the</a:t>
            </a:r>
            <a:r>
              <a:rPr lang="en-US" sz="2000" b="1" dirty="0">
                <a:solidFill>
                  <a:srgbClr val="69737D"/>
                </a:solidFill>
                <a:latin typeface="Aptos"/>
              </a:rPr>
              <a:t> Macro</a:t>
            </a:r>
            <a:r>
              <a:rPr sz="2000" b="1" dirty="0">
                <a:solidFill>
                  <a:srgbClr val="69737D"/>
                </a:solidFill>
                <a:latin typeface="Aptos"/>
              </a:rPr>
              <a:t> VBA </a:t>
            </a:r>
            <a:r>
              <a:rPr lang="en-US" sz="2000" b="1" dirty="0">
                <a:solidFill>
                  <a:srgbClr val="69737D"/>
                </a:solidFill>
                <a:latin typeface="Aptos"/>
              </a:rPr>
              <a:t>(Visual Basic for Applications) </a:t>
            </a:r>
            <a:r>
              <a:rPr sz="2000" b="1" dirty="0">
                <a:solidFill>
                  <a:srgbClr val="69737D"/>
                </a:solidFill>
                <a:latin typeface="Aptos"/>
              </a:rPr>
              <a:t>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25296"/>
            <a:ext cx="914400" cy="45720"/>
          </a:xfrm>
          <a:prstGeom prst="rect">
            <a:avLst/>
          </a:prstGeom>
          <a:solidFill>
            <a:srgbClr val="0F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50292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1000" b="1" dirty="0">
                <a:solidFill>
                  <a:srgbClr val="69737D"/>
                </a:solidFill>
                <a:latin typeface="Aptos"/>
              </a:rPr>
              <a:t>05</a:t>
            </a:r>
            <a:endParaRPr sz="1000" b="1" dirty="0">
              <a:solidFill>
                <a:srgbClr val="69737D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85800" y="1463040"/>
            <a:ext cx="34290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63040"/>
            <a:ext cx="64008" cy="4389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627632"/>
            <a:ext cx="3063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Aptos"/>
              </a:rPr>
              <a:t>1. BO 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029968"/>
            <a:ext cx="3044952" cy="341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232D37"/>
                </a:solidFill>
                <a:latin typeface="Aptos"/>
              </a:rPr>
              <a:t>• Processes the daily BO data
• Applies the required data-cleaning steps
• Removes unwanted / irrelevant records according to the existing workflow
• Prepares the data for the settled report
• Sorts the LME data dynamically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463040"/>
            <a:ext cx="34290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70832" y="1463040"/>
            <a:ext cx="64008" cy="438912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627632"/>
            <a:ext cx="3063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Aptos"/>
              </a:rPr>
              <a:t>2. Secured Matching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029968"/>
            <a:ext cx="3044952" cy="286232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>
              <a:defRPr b="1">
                <a:solidFill>
                  <a:srgbClr val="232D37"/>
                </a:solidFill>
                <a:latin typeface="Aptos"/>
              </a:defRPr>
            </a:lvl1pPr>
          </a:lstStyle>
          <a:p>
            <a:r>
              <a:rPr dirty="0"/>
              <a:t>• Reads Loan A/C from the </a:t>
            </a:r>
            <a:r>
              <a:rPr lang="en-US" dirty="0"/>
              <a:t>Product Schema</a:t>
            </a:r>
            <a:r>
              <a:rPr dirty="0"/>
              <a:t>
• Checks the Clean/Secured field
• Selects accounts marked “FULLY SECURED</a:t>
            </a:r>
            <a:r>
              <a:rPr lang="en-US" dirty="0"/>
              <a:t>/</a:t>
            </a:r>
            <a:r>
              <a:rPr dirty="0"/>
              <a:t>”
• Matches Loan A/C with BO LME/CAR data
• Applies grey highlighting across the data row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5864" y="1463040"/>
            <a:ext cx="34290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55864" y="1463040"/>
            <a:ext cx="64008" cy="4389120"/>
          </a:xfrm>
          <a:prstGeom prst="rect">
            <a:avLst/>
          </a:prstGeom>
          <a:solidFill>
            <a:srgbClr val="0F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57032" y="1627632"/>
            <a:ext cx="3063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Aptos"/>
              </a:rPr>
              <a:t>3. Report Generation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2" y="2029968"/>
            <a:ext cx="3044952" cy="36941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>
              <a:defRPr b="1">
                <a:solidFill>
                  <a:srgbClr val="232D37"/>
                </a:solidFill>
                <a:latin typeface="Aptos"/>
              </a:defRPr>
            </a:lvl1pPr>
          </a:lstStyle>
          <a:p>
            <a:r>
              <a:rPr dirty="0"/>
              <a:t>• Creates the BO Settled report sheet
• Transfers LME and CAR data
• Generates numbering dynamically
• Cleans branch names
• Applies formatting and borders
• </a:t>
            </a:r>
            <a:r>
              <a:rPr dirty="0" err="1"/>
              <a:t>AutoFits</a:t>
            </a:r>
            <a:r>
              <a:rPr dirty="0"/>
              <a:t> columns and completes the report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F4E79"/>
                </a:solidFill>
                <a:latin typeface="Aptos"/>
              </a:rPr>
              <a:t>Before vs. After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10424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9737D"/>
                </a:solidFill>
                <a:latin typeface="Aptos"/>
              </a:rPr>
              <a:t>Operational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25296"/>
            <a:ext cx="914400" cy="45720"/>
          </a:xfrm>
          <a:prstGeom prst="rect">
            <a:avLst/>
          </a:prstGeom>
          <a:solidFill>
            <a:srgbClr val="0F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50292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1000" b="1" dirty="0">
                <a:solidFill>
                  <a:srgbClr val="69737D"/>
                </a:solidFill>
                <a:latin typeface="Aptos"/>
              </a:rPr>
              <a:t>06</a:t>
            </a:r>
            <a:endParaRPr sz="1000" b="1" dirty="0">
              <a:solidFill>
                <a:srgbClr val="69737D"/>
              </a:solidFill>
              <a:latin typeface="Apto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2011680" cy="566928"/>
          </a:xfrm>
          <a:prstGeom prst="rect">
            <a:avLst/>
          </a:prstGeom>
          <a:solidFill>
            <a:srgbClr val="1F4E7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1" y="1636776"/>
            <a:ext cx="18653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AREA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508760"/>
            <a:ext cx="3886200" cy="566928"/>
          </a:xfrm>
          <a:prstGeom prst="rect">
            <a:avLst/>
          </a:prstGeom>
          <a:solidFill>
            <a:srgbClr val="1F4E7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62072" y="1636776"/>
            <a:ext cx="37398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BEFORE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12280" y="1508760"/>
            <a:ext cx="4709160" cy="566928"/>
          </a:xfrm>
          <a:prstGeom prst="rect">
            <a:avLst/>
          </a:prstGeom>
          <a:solidFill>
            <a:srgbClr val="1F4E7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85432" y="1636776"/>
            <a:ext cx="45628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AFTER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075688"/>
            <a:ext cx="2011680" cy="621792"/>
          </a:xfrm>
          <a:prstGeom prst="rect">
            <a:avLst/>
          </a:prstGeom>
          <a:solidFill>
            <a:srgbClr val="F4F7F9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2194560"/>
            <a:ext cx="179222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F4E79"/>
                </a:solidFill>
                <a:latin typeface="Aptos"/>
              </a:rPr>
              <a:t>Secured files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075688"/>
            <a:ext cx="3886200" cy="621792"/>
          </a:xfrm>
          <a:prstGeom prst="rect">
            <a:avLst/>
          </a:prstGeom>
          <a:solidFill>
            <a:srgbClr val="F4F7F9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98648" y="2194560"/>
            <a:ext cx="366674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232D37"/>
                </a:solidFill>
                <a:latin typeface="Aptos"/>
              </a:rPr>
              <a:t>Manual identification / marking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12280" y="2075688"/>
            <a:ext cx="4709160" cy="621792"/>
          </a:xfrm>
          <a:prstGeom prst="rect">
            <a:avLst/>
          </a:prstGeom>
          <a:solidFill>
            <a:srgbClr val="F4F7F9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22008" y="2110585"/>
            <a:ext cx="4489704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232D37"/>
                </a:solidFill>
                <a:latin typeface="Aptos"/>
              </a:rPr>
              <a:t>Automatic Loan A/C matching + highlighting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697480"/>
            <a:ext cx="20116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9808" y="2816352"/>
            <a:ext cx="179222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F4E79"/>
                </a:solidFill>
                <a:latin typeface="Aptos"/>
              </a:rPr>
              <a:t>Report preparation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697480"/>
            <a:ext cx="388620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898648" y="2816352"/>
            <a:ext cx="366674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232D37"/>
                </a:solidFill>
                <a:latin typeface="Aptos"/>
              </a:rPr>
              <a:t>Multiple repetitive actions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12280" y="2697480"/>
            <a:ext cx="470916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22008" y="2816352"/>
            <a:ext cx="448970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232D37"/>
                </a:solidFill>
                <a:latin typeface="Aptos"/>
              </a:rPr>
              <a:t>Automated processing and transfer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319272"/>
            <a:ext cx="2011680" cy="621792"/>
          </a:xfrm>
          <a:prstGeom prst="rect">
            <a:avLst/>
          </a:prstGeom>
          <a:solidFill>
            <a:srgbClr val="F4F7F9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9808" y="3438144"/>
            <a:ext cx="179222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F4E79"/>
                </a:solidFill>
                <a:latin typeface="Aptos"/>
              </a:rPr>
              <a:t>Formatting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319272"/>
            <a:ext cx="3886200" cy="621792"/>
          </a:xfrm>
          <a:prstGeom prst="rect">
            <a:avLst/>
          </a:prstGeom>
          <a:solidFill>
            <a:srgbClr val="F4F7F9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898648" y="3438144"/>
            <a:ext cx="366674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232D37"/>
                </a:solidFill>
                <a:latin typeface="Aptos"/>
              </a:rPr>
              <a:t>Manual cleanup / formatting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12280" y="3319272"/>
            <a:ext cx="4709160" cy="621792"/>
          </a:xfrm>
          <a:prstGeom prst="rect">
            <a:avLst/>
          </a:prstGeom>
          <a:solidFill>
            <a:srgbClr val="F4F7F9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922008" y="3438144"/>
            <a:ext cx="448970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232D37"/>
                </a:solidFill>
                <a:latin typeface="Aptos"/>
              </a:rPr>
              <a:t>Standardized formatting + AutoFit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3941064"/>
            <a:ext cx="20116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49808" y="4059936"/>
            <a:ext cx="179222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F4E79"/>
                </a:solidFill>
                <a:latin typeface="Aptos"/>
              </a:rPr>
              <a:t>Process control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3941064"/>
            <a:ext cx="388620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898648" y="4059936"/>
            <a:ext cx="366674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232D37"/>
                </a:solidFill>
                <a:latin typeface="Aptos"/>
              </a:rPr>
              <a:t>Operator-driven sequence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12280" y="3941064"/>
            <a:ext cx="470916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922008" y="4059936"/>
            <a:ext cx="448970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232D37"/>
                </a:solidFill>
                <a:latin typeface="Aptos"/>
              </a:rPr>
              <a:t>GUI-controlled sequence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4562856"/>
            <a:ext cx="2011680" cy="621792"/>
          </a:xfrm>
          <a:prstGeom prst="rect">
            <a:avLst/>
          </a:prstGeom>
          <a:solidFill>
            <a:srgbClr val="F4F7F9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49808" y="4681728"/>
            <a:ext cx="179222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F4E79"/>
                </a:solidFill>
                <a:latin typeface="Aptos"/>
              </a:rPr>
              <a:t>Error exposure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88920" y="4562856"/>
            <a:ext cx="3886200" cy="621792"/>
          </a:xfrm>
          <a:prstGeom prst="rect">
            <a:avLst/>
          </a:prstGeom>
          <a:solidFill>
            <a:srgbClr val="F4F7F9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898648" y="4618381"/>
            <a:ext cx="3666744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232D37"/>
                </a:solidFill>
                <a:latin typeface="Aptos"/>
              </a:rPr>
              <a:t>Higher due to repeated manual actions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12280" y="4562856"/>
            <a:ext cx="4709160" cy="621792"/>
          </a:xfrm>
          <a:prstGeom prst="rect">
            <a:avLst/>
          </a:prstGeom>
          <a:solidFill>
            <a:srgbClr val="F4F7F9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922008" y="4681728"/>
            <a:ext cx="448970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232D37"/>
                </a:solidFill>
                <a:latin typeface="Aptos"/>
              </a:rPr>
              <a:t>Reduced through repeatable logic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5184648"/>
            <a:ext cx="20116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49808" y="5303520"/>
            <a:ext cx="179222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F4E79"/>
                </a:solidFill>
                <a:latin typeface="Aptos"/>
              </a:rPr>
              <a:t>Time / effort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88920" y="5184648"/>
            <a:ext cx="388620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898648" y="5303520"/>
            <a:ext cx="366674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232D37"/>
                </a:solidFill>
                <a:latin typeface="Aptos"/>
              </a:rPr>
              <a:t>More operator involvement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12280" y="5184648"/>
            <a:ext cx="470916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885432" y="5303520"/>
            <a:ext cx="448970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232D37"/>
                </a:solidFill>
                <a:latin typeface="Aptos"/>
              </a:rPr>
              <a:t>Less manual intervention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F4E79"/>
                </a:solidFill>
                <a:latin typeface="Aptos"/>
              </a:rPr>
              <a:t>Management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17263"/>
            <a:ext cx="1042416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69737D"/>
                </a:solidFill>
                <a:latin typeface="Aptos"/>
              </a:rPr>
              <a:t>The value is primarily operational: consistency, control, and reduced manual effort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25296"/>
            <a:ext cx="914400" cy="45720"/>
          </a:xfrm>
          <a:prstGeom prst="rect">
            <a:avLst/>
          </a:prstGeom>
          <a:solidFill>
            <a:srgbClr val="0F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50292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1000" b="1" dirty="0">
                <a:solidFill>
                  <a:srgbClr val="69737D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315468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64008" cy="178308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673351"/>
            <a:ext cx="2788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Aptos"/>
              </a:rPr>
              <a:t>Reduce human mistakes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075688"/>
            <a:ext cx="2770632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232D37"/>
                </a:solidFill>
                <a:latin typeface="Aptos"/>
              </a:rPr>
              <a:t>Less manual copying, matching, marking, and formatting.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508760"/>
            <a:ext cx="315468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60520" y="1508760"/>
            <a:ext cx="64008" cy="1783080"/>
          </a:xfrm>
          <a:prstGeom prst="rect">
            <a:avLst/>
          </a:prstGeom>
          <a:solidFill>
            <a:srgbClr val="0F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61688" y="1673351"/>
            <a:ext cx="2788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Aptos"/>
              </a:rPr>
              <a:t>Improve speed &amp; efficiency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1995833"/>
            <a:ext cx="2770632" cy="132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232D37"/>
                </a:solidFill>
                <a:latin typeface="Aptos"/>
              </a:rPr>
              <a:t>The repetitive processing steps are executed automatically.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1508760"/>
            <a:ext cx="315468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635240" y="1508760"/>
            <a:ext cx="64008" cy="1783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36408" y="1673351"/>
            <a:ext cx="2788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Aptos"/>
              </a:rPr>
              <a:t>Standardize the process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5552" y="2043342"/>
            <a:ext cx="2770632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232D37"/>
                </a:solidFill>
                <a:latin typeface="Aptos"/>
              </a:rPr>
              <a:t>The same workflow and logic are applied each day.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657600"/>
            <a:ext cx="315468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3657600"/>
            <a:ext cx="64008" cy="178308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6968" y="3822191"/>
            <a:ext cx="2788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Aptos"/>
              </a:rPr>
              <a:t>Reduce cognitive load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4091030"/>
            <a:ext cx="2770632" cy="132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232D37"/>
                </a:solidFill>
                <a:latin typeface="Aptos"/>
              </a:rPr>
              <a:t>The operator focuses on the business process rather than repetitive mechanics.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60520" y="3657600"/>
            <a:ext cx="315468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160520" y="3657600"/>
            <a:ext cx="64008" cy="178308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61688" y="3822191"/>
            <a:ext cx="2788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Aptos"/>
              </a:rPr>
              <a:t>Improve process 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61688" y="4224528"/>
            <a:ext cx="2770632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32D37"/>
                </a:solidFill>
                <a:latin typeface="Aptos"/>
              </a:rPr>
              <a:t>The GUI enforces the intended sequence of actions.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35240" y="3657600"/>
            <a:ext cx="315468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635240" y="3657600"/>
            <a:ext cx="64008" cy="1783080"/>
          </a:xfrm>
          <a:prstGeom prst="rect">
            <a:avLst/>
          </a:prstGeom>
          <a:solidFill>
            <a:srgbClr val="0F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836408" y="3822191"/>
            <a:ext cx="2788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Aptos"/>
              </a:rPr>
              <a:t>Create a scalable foundation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36408" y="4070639"/>
            <a:ext cx="2770632" cy="132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232D37"/>
                </a:solidFill>
                <a:latin typeface="Aptos"/>
              </a:rPr>
              <a:t>The automation provides a base for further reporting enhancements.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F4E79"/>
                </a:solidFill>
                <a:latin typeface="Aptos"/>
              </a:rPr>
              <a:t>Built-In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4301"/>
            <a:ext cx="1042416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69737D"/>
                </a:solidFill>
                <a:latin typeface="Aptos"/>
              </a:rPr>
              <a:t>The automation is designed to make the daily process repeatable and easier to operate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25296"/>
            <a:ext cx="914400" cy="45720"/>
          </a:xfrm>
          <a:prstGeom prst="rect">
            <a:avLst/>
          </a:prstGeom>
          <a:solidFill>
            <a:srgbClr val="0F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50292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dirty="0">
                <a:solidFill>
                  <a:srgbClr val="69737D"/>
                </a:solidFill>
                <a:latin typeface="Aptos"/>
              </a:rPr>
              <a:t>0</a:t>
            </a:r>
            <a:r>
              <a:rPr lang="en-US" sz="1000" b="1" dirty="0">
                <a:solidFill>
                  <a:srgbClr val="69737D"/>
                </a:solidFill>
                <a:latin typeface="Aptos"/>
              </a:rPr>
              <a:t>8</a:t>
            </a:r>
            <a:endParaRPr sz="1000" b="1" dirty="0">
              <a:solidFill>
                <a:srgbClr val="69737D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5212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64008" cy="15087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673351"/>
            <a:ext cx="48463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Aptos"/>
              </a:rPr>
              <a:t>Step Gating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7" y="2006807"/>
            <a:ext cx="4828032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232D37"/>
                </a:solidFill>
                <a:latin typeface="Aptos"/>
              </a:rPr>
              <a:t>START BO is available first; MARK SECURED FILES becomes available after successful processing; PRINT BO follows after secured-file marking.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08760"/>
            <a:ext cx="5212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508760"/>
            <a:ext cx="64008" cy="150876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64807" y="1673351"/>
            <a:ext cx="48463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Aptos"/>
              </a:rPr>
              <a:t>Explicit Data Matching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1943208"/>
            <a:ext cx="4828032" cy="9233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232D37"/>
                </a:solidFill>
                <a:latin typeface="Aptos"/>
              </a:rPr>
              <a:t>Secured status is not based on visual inspection. Loan A/C is used as the matching key against the </a:t>
            </a:r>
            <a:r>
              <a:rPr lang="en-US" b="1" dirty="0">
                <a:solidFill>
                  <a:srgbClr val="232D37"/>
                </a:solidFill>
                <a:latin typeface="Aptos"/>
              </a:rPr>
              <a:t>Product Schema</a:t>
            </a:r>
            <a:r>
              <a:rPr b="1" dirty="0">
                <a:solidFill>
                  <a:srgbClr val="232D37"/>
                </a:solidFill>
                <a:latin typeface="Aptos"/>
              </a:rPr>
              <a:t> 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337560"/>
            <a:ext cx="5212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3337560"/>
            <a:ext cx="64008" cy="1508760"/>
          </a:xfrm>
          <a:prstGeom prst="rect">
            <a:avLst/>
          </a:prstGeom>
          <a:solidFill>
            <a:srgbClr val="0F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6968" y="3502152"/>
            <a:ext cx="48463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Aptos"/>
              </a:rPr>
              <a:t>Consistent Formatting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5" y="3772007"/>
            <a:ext cx="4828032" cy="9233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232D37"/>
                </a:solidFill>
                <a:latin typeface="Aptos"/>
              </a:rPr>
              <a:t>Report formatting, numbering, branch cleaning, borders, and column sizing are handled by</a:t>
            </a:r>
            <a:r>
              <a:rPr lang="en-US" b="1" dirty="0">
                <a:solidFill>
                  <a:srgbClr val="232D37"/>
                </a:solidFill>
                <a:latin typeface="Aptos"/>
              </a:rPr>
              <a:t> Macro</a:t>
            </a:r>
            <a:r>
              <a:rPr b="1" dirty="0">
                <a:solidFill>
                  <a:srgbClr val="232D37"/>
                </a:solidFill>
                <a:latin typeface="Aptos"/>
              </a:rPr>
              <a:t> code.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337560"/>
            <a:ext cx="5212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63640" y="3337560"/>
            <a:ext cx="64008" cy="150876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64807" y="3502152"/>
            <a:ext cx="48463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Aptos"/>
              </a:rPr>
              <a:t>Error Feedback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664" y="3772007"/>
            <a:ext cx="4828032" cy="9233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232D37"/>
                </a:solidFill>
                <a:latin typeface="Aptos"/>
              </a:rPr>
              <a:t>If a step fails, the GUI reports the failed stage and prevents the workflow from silently continuing.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94760" y="5349240"/>
            <a:ext cx="4617720" cy="384048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794760" y="5385816"/>
            <a:ext cx="4617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dirty="0">
                <a:solidFill>
                  <a:srgbClr val="FFFFFF"/>
                </a:solidFill>
                <a:latin typeface="Aptos"/>
              </a:rPr>
              <a:t>REPEATABLE • CONTROLLED • LESS MANUAL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F4E79"/>
                </a:solidFill>
                <a:latin typeface="Aptos"/>
              </a:rPr>
              <a:t>New Automated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10424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9737D"/>
                </a:solidFill>
                <a:latin typeface="Aptos"/>
              </a:rPr>
              <a:t>One controlled sequence from BO preparation to final report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25296"/>
            <a:ext cx="914400" cy="45720"/>
          </a:xfrm>
          <a:prstGeom prst="rect">
            <a:avLst/>
          </a:prstGeom>
          <a:solidFill>
            <a:srgbClr val="0F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50292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1000" b="1" dirty="0">
                <a:solidFill>
                  <a:srgbClr val="69737D"/>
                </a:solidFill>
                <a:latin typeface="Aptos"/>
              </a:rPr>
              <a:t>09</a:t>
            </a:r>
            <a:endParaRPr sz="1000" b="1" dirty="0">
              <a:solidFill>
                <a:srgbClr val="69737D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85800" y="2103120"/>
            <a:ext cx="2148840" cy="18288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487168"/>
            <a:ext cx="19659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START BO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3017520"/>
            <a:ext cx="1819656" cy="4462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 dirty="0">
                <a:solidFill>
                  <a:srgbClr val="FFFFFF"/>
                </a:solidFill>
                <a:latin typeface="Aptos"/>
              </a:rPr>
              <a:t>Prepare and </a:t>
            </a:r>
            <a:r>
              <a:rPr lang="en-US" sz="1150" b="0" dirty="0">
                <a:solidFill>
                  <a:srgbClr val="FFFFFF"/>
                </a:solidFill>
                <a:latin typeface="Aptos"/>
              </a:rPr>
              <a:t>Update</a:t>
            </a:r>
            <a:r>
              <a:rPr sz="1150" b="0" dirty="0">
                <a:solidFill>
                  <a:srgbClr val="FFFFFF"/>
                </a:solidFill>
                <a:latin typeface="Aptos"/>
              </a:rPr>
              <a:t>
</a:t>
            </a:r>
            <a:r>
              <a:rPr lang="en-US" sz="1150" b="0" dirty="0">
                <a:solidFill>
                  <a:srgbClr val="FFFFFF"/>
                </a:solidFill>
                <a:latin typeface="Aptos"/>
              </a:rPr>
              <a:t>New </a:t>
            </a:r>
            <a:r>
              <a:rPr sz="1150" b="0" dirty="0">
                <a:solidFill>
                  <a:srgbClr val="FFFFFF"/>
                </a:solidFill>
                <a:latin typeface="Aptos"/>
              </a:rPr>
              <a:t>BO </a:t>
            </a:r>
            <a:r>
              <a:rPr lang="en-US" sz="1150" dirty="0">
                <a:solidFill>
                  <a:srgbClr val="FFFFFF"/>
                </a:solidFill>
                <a:latin typeface="Aptos"/>
              </a:rPr>
              <a:t>D</a:t>
            </a:r>
            <a:r>
              <a:rPr sz="1150" b="0" dirty="0">
                <a:solidFill>
                  <a:srgbClr val="FFFFFF"/>
                </a:solidFill>
                <a:latin typeface="Aptos"/>
              </a:rPr>
              <a:t>ata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07792" y="3017520"/>
            <a:ext cx="429768" cy="0"/>
          </a:xfrm>
          <a:prstGeom prst="line">
            <a:avLst/>
          </a:prstGeom>
          <a:ln w="3175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29000" y="2103120"/>
            <a:ext cx="2606040" cy="1828800"/>
          </a:xfrm>
          <a:prstGeom prst="round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20440" y="2487168"/>
            <a:ext cx="24231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MARK SECURED FILES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3017520"/>
            <a:ext cx="227685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 dirty="0">
                <a:solidFill>
                  <a:srgbClr val="FFFFFF"/>
                </a:solidFill>
                <a:latin typeface="Aptos"/>
              </a:rPr>
              <a:t>Match Loan A/C
and mark Fully Secured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108192" y="3017520"/>
            <a:ext cx="429768" cy="0"/>
          </a:xfrm>
          <a:prstGeom prst="line">
            <a:avLst/>
          </a:prstGeom>
          <a:ln w="3175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629400" y="2103120"/>
            <a:ext cx="2148840" cy="1828800"/>
          </a:xfrm>
          <a:prstGeom prst="roundRect">
            <a:avLst/>
          </a:prstGeom>
          <a:solidFill>
            <a:srgbClr val="0F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20840" y="2487168"/>
            <a:ext cx="19659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PRINT BO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3992" y="3017520"/>
            <a:ext cx="181965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FFFFFF"/>
                </a:solidFill>
                <a:latin typeface="Aptos"/>
              </a:rPr>
              <a:t>Generate and format
the final report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851392" y="3017520"/>
            <a:ext cx="429768" cy="0"/>
          </a:xfrm>
          <a:prstGeom prst="line">
            <a:avLst/>
          </a:prstGeom>
          <a:ln w="3175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372600" y="2103120"/>
            <a:ext cx="2057400" cy="1828800"/>
          </a:xfrm>
          <a:prstGeom prst="roundRect">
            <a:avLst/>
          </a:prstGeom>
          <a:solidFill>
            <a:srgbClr val="23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64040" y="2487168"/>
            <a:ext cx="18745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EXIT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37192" y="3017520"/>
            <a:ext cx="172821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FFFFFF"/>
                </a:solidFill>
                <a:latin typeface="Aptos"/>
              </a:rPr>
              <a:t>Close the automation
workbook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617720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F4E79"/>
                </a:solidFill>
                <a:latin typeface="Aptos"/>
              </a:rPr>
              <a:t>The interface starts with only START BO enabled. Each completed step unlocks the next action.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17720" y="5257800"/>
            <a:ext cx="2971800" cy="384048"/>
          </a:xfrm>
          <a:prstGeom prst="roundRect">
            <a:avLst/>
          </a:prstGeom>
          <a:solidFill>
            <a:srgbClr val="0F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17720" y="5294376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CONTROLLED SEQUENCE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0515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BEDCE1"/>
                </a:solidFill>
                <a:latin typeface="Aptos"/>
              </a:rPr>
              <a:t>DAILY BO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"/>
              </a:rPr>
              <a:t>Automation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2316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C8D2DA"/>
                </a:solidFill>
                <a:latin typeface="Aptos"/>
              </a:rPr>
              <a:t>Management 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80360"/>
            <a:ext cx="102412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dirty="0">
                <a:solidFill>
                  <a:srgbClr val="FFFFFF"/>
                </a:solidFill>
                <a:latin typeface="Aptos"/>
              </a:rPr>
              <a:t>A repetitive daily reporting workflow has been converted into a controlled, repeatable automation process — reducing manual intervention while improving consistency and operational efficiency.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663440"/>
            <a:ext cx="2971800" cy="384048"/>
          </a:xfrm>
          <a:prstGeom prst="roundRect">
            <a:avLst/>
          </a:prstGeom>
          <a:solidFill>
            <a:srgbClr val="0F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4700016"/>
            <a:ext cx="297180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dirty="0">
                <a:solidFill>
                  <a:srgbClr val="FFFFFF"/>
                </a:solidFill>
                <a:latin typeface="Aptos"/>
              </a:rPr>
              <a:t>START  →  </a:t>
            </a:r>
            <a:r>
              <a:rPr lang="en-US" sz="1050" b="1" dirty="0">
                <a:solidFill>
                  <a:srgbClr val="FFFFFF"/>
                </a:solidFill>
                <a:latin typeface="Aptos"/>
              </a:rPr>
              <a:t>Mark </a:t>
            </a:r>
            <a:r>
              <a:rPr sz="1050" b="1" dirty="0">
                <a:solidFill>
                  <a:srgbClr val="FFFFFF"/>
                </a:solidFill>
                <a:latin typeface="Aptos"/>
              </a:rPr>
              <a:t>SECURE</a:t>
            </a:r>
            <a:r>
              <a:rPr lang="en-US" sz="1050" b="1" dirty="0">
                <a:solidFill>
                  <a:srgbClr val="FFFFFF"/>
                </a:solidFill>
                <a:latin typeface="Aptos"/>
              </a:rPr>
              <a:t>D</a:t>
            </a:r>
            <a:r>
              <a:rPr sz="1050" b="1" dirty="0">
                <a:solidFill>
                  <a:srgbClr val="FFFFFF"/>
                </a:solidFill>
                <a:latin typeface="Aptos"/>
              </a:rPr>
              <a:t>  →  PRINT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C8D2DA"/>
                </a:solidFill>
                <a:latin typeface="Aptos"/>
              </a:rPr>
              <a:t>Prepared for Management | September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sisl xmlns:xsd="http://www.w3.org/2001/XMLSchema" xmlns:xsi="http://www.w3.org/2001/XMLSchema-instance" xmlns="http://www.boldonjames.com/2008/01/sie/internal/label" sislVersion="0" policy="f9244a5b-6efd-4ce4-affb-5541593f5106" origin="userSelected">
  <element uid="id_classification_generalbusiness" value=""/>
  <element uid="20e13584-1177-4de9-aa1c-56181d6ae5c9" value=""/>
</sisl>
</file>

<file path=customXml/item2.xml><?xml version="1.0" encoding="utf-8"?>
<WrappedLabelInfo xmlns:xsd="http://www.w3.org/2001/XMLSchema" xmlns:xsi="http://www.w3.org/2001/XMLSchema-instance" xmlns="http://www.boldonjames.com/2016/02/Classifier/internal/wrappedLabelInfo">
  <Value>PD94bWwgdmVyc2lvbj0iMS4wIiBlbmNvZGluZz0idXMtYXNjaWkiPz48TGFiZWxJbmZvWG1sUGFydCB4bWxuczp4c2Q9Imh0dHA6Ly93d3cudzMub3JnLzIwMDEvWE1MU2NoZW1hIiB4bWxuczp4c2k9Imh0dHA6Ly93d3cudzMub3JnLzIwMDEvWE1MU2NoZW1hLWluc3RhbmNlIiB4bWxucz0iaHR0cDovL3d3dy5ib2xkb25qYW1lcy5jb20vMjAxNi8wMi9DbGFzc2lmaWVyL2ludGVybmFsL2xhYmVsSW5mbyI+PGVsaD5FRExVdWowSG42NVM4MFFGeGY5eUlYR1ZrWGtOSnJpcTwvZWxoPjxjb25maWc+QURJQjwvY29uZmlnPjxwb2w+Q29uc3VtZXIgT3BlcmF0aW9ucyBOVTwvcG9sPjxzdW1tYXJ5PkMxIC0gSW50ZXJuYWwgQ29uc3VtZXIgT3BlcmF0aW9uczwvc3VtbWFyeT48YXBwPlBvd2VyUG9pbnQ8L2FwcD48U2lnbmF0dXJlVmFsaWQ+ZmFsc2U8L1NpZ25hdHVyZVZhbGlkPjwvTGFiZWxJbmZvWG1sUGFydD4=</Value>
  <Signature xmlns="http://www.w3.org/2000/09/xmldsig#">
    <SignedInfo>
      <CanonicalizationMethod Algorithm="http://www.w3.org/TR/2001/REC-xml-c14n-20010315"/>
      <SignatureMethod Algorithm="http://www.w3.org/2001/04/xmldsig-more#rsa-sha256"/>
      <Reference URI="">
        <Transforms>
          <Transform Algorithm="http://www.w3.org/2000/09/xmldsig#enveloped-signature"/>
        </Transforms>
        <DigestMethod Algorithm="http://www.w3.org/2001/04/xmlenc#sha256"/>
        <DigestValue>is2w26VeCHYfZs8lKXxdsOhqeRWCWx5j+3DIzYU2CN4=</DigestValue>
      </Reference>
      <Reference URI="#INFO">
        <DigestMethod Algorithm="http://www.w3.org/2001/04/xmlenc#sha256"/>
        <DigestValue>zyRcgE62Wf/myM8vS0wCj7X8xJ7J3tR5CdFHXEgCsq4=</DigestValue>
      </Reference>
    </SignedInfo>
    <SignatureValue>fAJV40QFh1ojaNxBM0tcSkW+NwMUk07ScE/ylhuguctZp3PeUpjKzxxcWMSU+t7Sksb+tBsLl6q6tjt2pdKS0Q==</SignatureValue>
    <Object Id="INFO">
      <ArrayOfString xmlns:xsd="http://www.w3.org/2001/XMLSchema" xmlns:xsi="http://www.w3.org/2001/XMLSchema-instance" xmlns="">
        <string>EDLUuj0Hn65S80QFxf9yIXGVkXkNJriq</string>
      </ArrayOfString>
    </Object>
  </Signature>
</WrappedLabelInfo>
</file>

<file path=customXml/itemProps1.xml><?xml version="1.0" encoding="utf-8"?>
<ds:datastoreItem xmlns:ds="http://schemas.openxmlformats.org/officeDocument/2006/customXml" ds:itemID="{287C9756-6B5F-4CDD-8102-DF7B0E6F49E7}">
  <ds:schemaRefs>
    <ds:schemaRef ds:uri="http://www.w3.org/2001/XMLSchema"/>
    <ds:schemaRef ds:uri="http://www.boldonjames.com/2008/01/sie/internal/label"/>
  </ds:schemaRefs>
</ds:datastoreItem>
</file>

<file path=customXml/itemProps2.xml><?xml version="1.0" encoding="utf-8"?>
<ds:datastoreItem xmlns:ds="http://schemas.openxmlformats.org/officeDocument/2006/customXml" ds:itemID="{72663981-B49D-4D40-9734-366F55F771E3}">
  <ds:schemaRefs>
    <ds:schemaRef ds:uri="http://www.w3.org/2001/XMLSchema"/>
    <ds:schemaRef ds:uri="http://www.boldonjames.com/2016/02/Classifier/internal/wrappedLabelInfo"/>
    <ds:schemaRef ds:uri="http://www.w3.org/2000/09/xmldsig#"/>
    <ds:schemaRef ds:uri="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900</Words>
  <Application>Microsoft Office PowerPoint</Application>
  <PresentationFormat>Widescreen</PresentationFormat>
  <Paragraphs>137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Hamdy Mohamed</cp:lastModifiedBy>
  <cp:revision>10</cp:revision>
  <dcterms:created xsi:type="dcterms:W3CDTF">2013-01-27T09:14:16Z</dcterms:created>
  <dcterms:modified xsi:type="dcterms:W3CDTF">2026-10-25T07:58:18Z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297b356e-6c64-4024-b354-a3f95aa84311</vt:lpwstr>
  </property>
  <property fmtid="{D5CDD505-2E9C-101B-9397-08002B2CF9AE}" pid="3" name="bjClsUserRVM">
    <vt:lpwstr>[]</vt:lpwstr>
  </property>
  <property fmtid="{D5CDD505-2E9C-101B-9397-08002B2CF9AE}" pid="4" name="bjDocumentLabelXML">
    <vt:lpwstr>&lt;?xml version="1.0" encoding="us-ascii"?&gt;&lt;sisl xmlns:xsd="http://www.w3.org/2001/XMLSchema" xmlns:xsi="http://www.w3.org/2001/XMLSchema-instance" sislVersion="0" policy="f9244a5b-6efd-4ce4-affb-5541593f5106" origin="userSelected" xmlns="http://www.boldonj</vt:lpwstr>
  </property>
  <property fmtid="{D5CDD505-2E9C-101B-9397-08002B2CF9AE}" pid="5" name="bjDocumentLabelXML-0">
    <vt:lpwstr>ames.com/2008/01/sie/internal/label"&gt;&lt;element uid="id_classification_generalbusiness" value="" /&gt;&lt;element uid="20e13584-1177-4de9-aa1c-56181d6ae5c9" value="" /&gt;&lt;/sisl&gt;</vt:lpwstr>
  </property>
  <property fmtid="{D5CDD505-2E9C-101B-9397-08002B2CF9AE}" pid="6" name="bjDocumentSecurityLabel">
    <vt:lpwstr>[Consumer Operations C1 - Internal]</vt:lpwstr>
  </property>
  <property fmtid="{D5CDD505-2E9C-101B-9397-08002B2CF9AE}" pid="7" name="bjpmDocIH">
    <vt:lpwstr>/1ywUnU4HcjhHOj9EmNnaxlik/AnW8wH</vt:lpwstr>
  </property>
  <property fmtid="{D5CDD505-2E9C-101B-9397-08002B2CF9AE}" pid="8" name="bjSaver">
    <vt:lpwstr>hiSgxcdoycY5RcdaBFSuMt/3sNN2HRhf</vt:lpwstr>
  </property>
</Properties>
</file>