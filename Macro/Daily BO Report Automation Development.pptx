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7DF23-5736-431D-A8D4-1A9722448F7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7BE19-E189-4229-83E9-94EC36EA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8716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2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2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91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56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73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52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30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26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8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EDCE1"/>
                </a:solidFill>
                <a:latin typeface="Aptos"/>
              </a:rPr>
              <a:t>DAILY BO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Automation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26080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E1EBF0"/>
                </a:solidFill>
                <a:latin typeface="Aptos"/>
              </a:rPr>
              <a:t>From repetitive manual processing to a controlled, repeatable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977639"/>
            <a:ext cx="2971800" cy="384048"/>
          </a:xfrm>
          <a:prstGeom prst="round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4014215"/>
            <a:ext cx="29718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START  →  </a:t>
            </a:r>
            <a:r>
              <a:rPr lang="en-US" sz="1050" b="1" dirty="0">
                <a:solidFill>
                  <a:srgbClr val="FFFFFF"/>
                </a:solidFill>
                <a:latin typeface="Aptos"/>
              </a:rPr>
              <a:t>Mark </a:t>
            </a:r>
            <a:r>
              <a:rPr sz="1050" b="1" dirty="0">
                <a:solidFill>
                  <a:srgbClr val="FFFFFF"/>
                </a:solidFill>
                <a:latin typeface="Aptos"/>
              </a:rPr>
              <a:t>SECURE</a:t>
            </a:r>
            <a:r>
              <a:rPr lang="en-US" sz="1050" b="1" dirty="0">
                <a:solidFill>
                  <a:srgbClr val="FFFFFF"/>
                </a:solidFill>
                <a:latin typeface="Aptos"/>
              </a:rPr>
              <a:t>D</a:t>
            </a:r>
            <a:r>
              <a:rPr sz="1050" b="1" dirty="0">
                <a:solidFill>
                  <a:srgbClr val="FFFFFF"/>
                </a:solidFill>
                <a:latin typeface="Aptos"/>
              </a:rPr>
              <a:t>  →  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8D2DA"/>
                </a:solidFill>
                <a:latin typeface="Aptos"/>
              </a:rPr>
              <a:t>Management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57150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C8D2DA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3221" y="828532"/>
            <a:ext cx="104241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69737D"/>
                </a:solidFill>
                <a:latin typeface="Aptos"/>
              </a:rPr>
              <a:t>Why the automation was developed and what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35204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" y="2018227"/>
            <a:ext cx="3044952" cy="30469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The daily BO Settled Report required repeated manual actions, including file handling, identification of secured cases, copy/paste operations, and report preparation.
During high-cycle periods, this created unnecessary workload and increased the opportunity for human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554480"/>
            <a:ext cx="64008" cy="352044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190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044952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232D37"/>
                </a:solidFill>
                <a:latin typeface="Aptos"/>
              </a:defRPr>
            </a:lvl1pPr>
          </a:lstStyle>
          <a:p>
            <a:r>
              <a:rPr dirty="0"/>
              <a:t>A dedicated Excel VBA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(Visual Basic for Applications) Macro</a:t>
            </a:r>
            <a:r>
              <a:rPr dirty="0"/>
              <a:t> automation workflow was developed with a simple GUI.
The workflow controls the sequence of the daily process and automates the major repetitive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554480"/>
            <a:ext cx="64008" cy="35204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7190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034687"/>
            <a:ext cx="3044952" cy="2800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A more consistent and repeatable process with less manual intervention, faster execution, and built-in step sequencing.
The user performs the process through three controlled actions: </a:t>
            </a:r>
            <a:endParaRPr lang="en-US" sz="1600" b="1" dirty="0">
              <a:solidFill>
                <a:srgbClr val="232D37"/>
              </a:solidFill>
              <a:latin typeface="Aptos"/>
            </a:endParaRPr>
          </a:p>
          <a:p>
            <a:pPr algn="l"/>
            <a:r>
              <a:rPr lang="en-US" sz="1600" b="1" dirty="0">
                <a:solidFill>
                  <a:srgbClr val="232D37"/>
                </a:solidFill>
                <a:latin typeface="Aptos"/>
              </a:rPr>
              <a:t>-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START BO, </a:t>
            </a:r>
            <a:endParaRPr lang="en-US" sz="1600" b="1" dirty="0">
              <a:solidFill>
                <a:srgbClr val="232D37"/>
              </a:solidFill>
              <a:latin typeface="Aptos"/>
            </a:endParaRPr>
          </a:p>
          <a:p>
            <a:pPr algn="l"/>
            <a:r>
              <a:rPr lang="en-US" sz="1600" b="1" dirty="0">
                <a:solidFill>
                  <a:srgbClr val="232D37"/>
                </a:solidFill>
                <a:latin typeface="Aptos"/>
              </a:rPr>
              <a:t>-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MARK SECURED FILES, </a:t>
            </a:r>
            <a:endParaRPr lang="en-US" sz="1600" b="1" dirty="0">
              <a:solidFill>
                <a:srgbClr val="232D37"/>
              </a:solidFill>
              <a:latin typeface="Aptos"/>
            </a:endParaRPr>
          </a:p>
          <a:p>
            <a:pPr algn="l"/>
            <a:r>
              <a:rPr lang="en-US" sz="1600" b="1" dirty="0">
                <a:solidFill>
                  <a:srgbClr val="232D37"/>
                </a:solidFill>
                <a:latin typeface="Aptos"/>
              </a:rPr>
              <a:t>-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PRINT</a:t>
            </a:r>
            <a:r>
              <a:rPr lang="en-US" sz="1600" b="1" dirty="0">
                <a:solidFill>
                  <a:srgbClr val="232D37"/>
                </a:solidFill>
                <a:latin typeface="Aptos"/>
              </a:rPr>
              <a:t> 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BO.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Previous Manual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7789"/>
            <a:ext cx="10424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69737D"/>
                </a:solidFill>
                <a:latin typeface="Aptos"/>
              </a:rPr>
              <a:t>Example: identifying and marking secured files manually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6858000" cy="452628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37D"/>
                </a:solidFill>
                <a:latin typeface="Aptos"/>
              </a:rPr>
              <a:t>Manual secured-file identification screen</a:t>
            </a:r>
          </a:p>
        </p:txBody>
      </p:sp>
      <p:sp>
        <p:nvSpPr>
          <p:cNvPr id="9" name="Oval 8"/>
          <p:cNvSpPr/>
          <p:nvPr/>
        </p:nvSpPr>
        <p:spPr>
          <a:xfrm>
            <a:off x="7909560" y="1627632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67792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164592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Extract / review BO 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2432304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48259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45059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Check secured status</a:t>
            </a:r>
          </a:p>
        </p:txBody>
      </p:sp>
      <p:sp>
        <p:nvSpPr>
          <p:cNvPr id="15" name="Oval 14"/>
          <p:cNvSpPr/>
          <p:nvPr/>
        </p:nvSpPr>
        <p:spPr>
          <a:xfrm>
            <a:off x="7909560" y="3236976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32872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255264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Identify matching Loan A/C</a:t>
            </a:r>
          </a:p>
        </p:txBody>
      </p:sp>
      <p:sp>
        <p:nvSpPr>
          <p:cNvPr id="18" name="Oval 17"/>
          <p:cNvSpPr/>
          <p:nvPr/>
        </p:nvSpPr>
        <p:spPr>
          <a:xfrm>
            <a:off x="7909560" y="4041648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4091939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059935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Copy / paste or manually mark</a:t>
            </a:r>
          </a:p>
        </p:txBody>
      </p:sp>
      <p:sp>
        <p:nvSpPr>
          <p:cNvPr id="21" name="Oval 20"/>
          <p:cNvSpPr/>
          <p:nvPr/>
        </p:nvSpPr>
        <p:spPr>
          <a:xfrm>
            <a:off x="7909560" y="4846320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489661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864607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Continue report 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577840"/>
            <a:ext cx="33375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C55A11"/>
                </a:solidFill>
                <a:latin typeface="Aptos"/>
              </a:rPr>
              <a:t>Key issue: the process depended on repetitive manual actions and attention to detail.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F72B33-0B74-5F3D-8B1C-FD587DE95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96" y="1609344"/>
            <a:ext cx="5781368" cy="43650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What Was Improved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7497"/>
            <a:ext cx="10424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69737D"/>
                </a:solidFill>
                <a:latin typeface="Aptos"/>
              </a:rPr>
              <a:t>The automation targets the repetitive and error-prone parts of the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783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Manual file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277063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Standardized the daily BO preparation and processing sequence.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64008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Secured-file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75688"/>
            <a:ext cx="2770632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Automatically</a:t>
            </a:r>
            <a:r>
              <a:rPr sz="1600" b="0" dirty="0">
                <a:solidFill>
                  <a:srgbClr val="232D37"/>
                </a:solidFill>
                <a:latin typeface="Aptos"/>
              </a:rPr>
              <a:t> 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matches Loan A/C against the Coding data and identifies Fully Secured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508760"/>
            <a:ext cx="64008" cy="178308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Copy / paste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075688"/>
            <a:ext cx="27706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Automated movement of BO data into the report template.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64008" cy="1783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Report formatting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24528"/>
            <a:ext cx="27706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Automated numbering, branch cleaning, borders, font formatting, and AutoFit</a:t>
            </a:r>
            <a:r>
              <a:rPr sz="1050" b="0" dirty="0">
                <a:solidFill>
                  <a:srgbClr val="232D37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657600"/>
            <a:ext cx="64008" cy="1783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Process sequencing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224528"/>
            <a:ext cx="27706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232D37"/>
                </a:solidFill>
                <a:latin typeface="Aptos"/>
              </a:rPr>
              <a:t>GUI buttons enforce the intended order of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3657600"/>
            <a:ext cx="64008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3640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User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224528"/>
            <a:ext cx="27706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232D37"/>
                </a:solidFill>
                <a:latin typeface="Aptos"/>
              </a:rPr>
              <a:t>Reduced the number of repetitive actions required from the operator.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New Automated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ptos"/>
              </a:rPr>
              <a:t>One controlled sequence from BO preparation to final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148840" cy="182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START 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017520"/>
            <a:ext cx="18196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Prepare and process
BO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07792" y="3017520"/>
            <a:ext cx="429768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2103120"/>
            <a:ext cx="2606040" cy="182880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487168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MARK SECURED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017520"/>
            <a:ext cx="22768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Match Loan A/C
and mark Fully Secured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08192" y="3017520"/>
            <a:ext cx="429768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29400" y="2103120"/>
            <a:ext cx="2148840" cy="1828800"/>
          </a:xfrm>
          <a:prstGeom prst="round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487168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PRINT BO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3017520"/>
            <a:ext cx="18196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Generate and format
the final 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51392" y="3017520"/>
            <a:ext cx="429768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72600" y="2103120"/>
            <a:ext cx="2057400" cy="1828800"/>
          </a:xfrm>
          <a:prstGeom prst="roundRect">
            <a:avLst/>
          </a:prstGeom>
          <a:solidFill>
            <a:srgbClr val="23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2487168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3017520"/>
            <a:ext cx="17282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Close the automation
workbook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The interface starts with only START BO enabled. Each completed step unlocks the next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5257800"/>
            <a:ext cx="2971800" cy="384048"/>
          </a:xfrm>
          <a:prstGeom prst="round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529437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CONTROLLED SEQUENCE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Automation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66738"/>
            <a:ext cx="10424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69737D"/>
                </a:solidFill>
                <a:latin typeface="Aptos"/>
              </a:rPr>
              <a:t>Key functions implemented in the VBA </a:t>
            </a:r>
            <a:r>
              <a:rPr lang="en-US" sz="2000" b="1" dirty="0">
                <a:solidFill>
                  <a:srgbClr val="69737D"/>
                </a:solidFill>
                <a:latin typeface="Aptos"/>
              </a:rPr>
              <a:t>(Visual Basic for Applications) </a:t>
            </a:r>
            <a:r>
              <a:rPr sz="2000" b="1" dirty="0">
                <a:solidFill>
                  <a:srgbClr val="69737D"/>
                </a:solidFill>
                <a:latin typeface="Aptos"/>
              </a:rPr>
              <a:t>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64008" cy="4389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1. BO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29968"/>
            <a:ext cx="3044952" cy="341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• Processes the daily BO data
• Applies the required data-cleaning steps
• Removes unwanted / irrelevant records according to the existing workflow
• Prepares the data for the settled report
• Sorts the LME data dynamically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64008" cy="43891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27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2. Secured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29968"/>
            <a:ext cx="304495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32D37"/>
                </a:solidFill>
                <a:latin typeface="Aptos"/>
              </a:defRPr>
            </a:lvl1pPr>
          </a:lstStyle>
          <a:p>
            <a:r>
              <a:t>• Reads Loan A/C from the Coding workbook
• Checks the Clean/Secured field
• Selects accounts marked “FULLY SECURED”
• Matches Loan A/C with BO LME/CAR data
• Applies grey highlighting across the data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463040"/>
            <a:ext cx="64008" cy="43891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627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3. Report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029968"/>
            <a:ext cx="304495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32D37"/>
                </a:solidFill>
                <a:latin typeface="Aptos"/>
              </a:defRPr>
            </a:lvl1pPr>
          </a:lstStyle>
          <a:p>
            <a:r>
              <a:t>• Creates the BO Settled report sheet
• Transfers LME and CAR data
• Generates numbering dynamically
• Cleans branch names
• Applies formatting and borders
• AutoFits columns and completes the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Before vs.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ptos"/>
              </a:rPr>
              <a:t>Operational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201168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1636776"/>
            <a:ext cx="1865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508760"/>
            <a:ext cx="388620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62072" y="1636776"/>
            <a:ext cx="3739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508760"/>
            <a:ext cx="470916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5432" y="1636776"/>
            <a:ext cx="4562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75688"/>
            <a:ext cx="201168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194560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Secured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075688"/>
            <a:ext cx="388620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98648" y="2194560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Manual identification / marking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075688"/>
            <a:ext cx="470916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22008" y="2110585"/>
            <a:ext cx="448970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Automatic Loan A/C matching + highlighting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816352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Report preparation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697480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98648" y="2816352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Multiple repetitive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697480"/>
            <a:ext cx="4709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22008" y="2816352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Automated processing and 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19272"/>
            <a:ext cx="201168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438144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Formatting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319272"/>
            <a:ext cx="388620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98648" y="3438144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Manual cleanup / formatting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319272"/>
            <a:ext cx="470916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22008" y="3438144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Standardized formatting + AutoFit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41064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4059936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Process control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941064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98648" y="4059936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Operator-driven sequence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3941064"/>
            <a:ext cx="4709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22008" y="4059936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GUI-controlled sequence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562856"/>
            <a:ext cx="201168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4681728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Error exposure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4562856"/>
            <a:ext cx="388620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98648" y="4618381"/>
            <a:ext cx="366674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Higher due to repeated manual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4562856"/>
            <a:ext cx="470916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22008" y="4681728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Reduced through repeatable logic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184648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5303520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Time / effort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5184648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98648" y="5303520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More operator involvement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5184648"/>
            <a:ext cx="4709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85432" y="5303520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Less manual intervention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Management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17263"/>
            <a:ext cx="104241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69737D"/>
                </a:solidFill>
                <a:latin typeface="Aptos"/>
              </a:rPr>
              <a:t>The value is primarily operational: consistency, control, and reduced manual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Reduce human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277063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Less manual copying, matching, marking, and formatting.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64008" cy="178308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Improve speed &amp;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995833"/>
            <a:ext cx="277063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The repetitive processing steps are executed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508760"/>
            <a:ext cx="64008" cy="1783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Standardize the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43342"/>
            <a:ext cx="277063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The same workflow and logic are applied each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64008" cy="1783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Reduce cognitive 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091030"/>
            <a:ext cx="277063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The operator focuses on the business process rather than repetitive mechanics.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657600"/>
            <a:ext cx="64008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Improve process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224528"/>
            <a:ext cx="277063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D37"/>
                </a:solidFill>
                <a:latin typeface="Aptos"/>
              </a:rPr>
              <a:t>The GUI enforces the intended sequence of actions.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3657600"/>
            <a:ext cx="64008" cy="178308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3640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Create a scalable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070639"/>
            <a:ext cx="277063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The automation provides a base for further reporting enhancements.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Built-In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4301"/>
            <a:ext cx="10424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9737D"/>
                </a:solidFill>
                <a:latin typeface="Aptos"/>
              </a:rPr>
              <a:t>The automation is designed to make the daily process repeatable and easier to operate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508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Step Gating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7" y="2006807"/>
            <a:ext cx="48280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START BO is available first; MARK SECURED FILES becomes available after successful processing; PRINT BO follows after secured-file marking.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15087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673351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Explicit Data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943208"/>
            <a:ext cx="482803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32D37"/>
                </a:solidFill>
                <a:latin typeface="Aptos"/>
              </a:rPr>
              <a:t>Secured status is not based on visual inspection. Loan A/C is used as the matching key against the Coding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64008" cy="150876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50215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Consistent 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5" y="3772007"/>
            <a:ext cx="482803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Report formatting, numbering, branch cleaning, borders, and column sizing are handled by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3375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337560"/>
            <a:ext cx="64008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50215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Error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772007"/>
            <a:ext cx="482803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If a step fails, the GUI reports the failed stage and prevents the workflow from silently continuing.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5349240"/>
            <a:ext cx="4617720" cy="38404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5385816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REPEATABLE • CONTROLLED • LESS MANUAL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EDCE1"/>
                </a:solidFill>
                <a:latin typeface="Aptos"/>
              </a:rPr>
              <a:t>DAILY BO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Automation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8D2DA"/>
                </a:solidFill>
                <a:latin typeface="Aptos"/>
              </a:rPr>
              <a:t>Management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241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Aptos"/>
              </a:rPr>
              <a:t>A repetitive daily reporting workflow has been converted into a controlled, repeatable automation process — reducing manual intervention while improving consistency and operational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971800" cy="384048"/>
          </a:xfrm>
          <a:prstGeom prst="round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700016"/>
            <a:ext cx="29718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START  →  </a:t>
            </a:r>
            <a:r>
              <a:rPr lang="en-US" sz="1050" b="1" dirty="0">
                <a:solidFill>
                  <a:srgbClr val="FFFFFF"/>
                </a:solidFill>
                <a:latin typeface="Aptos"/>
              </a:rPr>
              <a:t>Mark </a:t>
            </a:r>
            <a:r>
              <a:rPr sz="1050" b="1" dirty="0">
                <a:solidFill>
                  <a:srgbClr val="FFFFFF"/>
                </a:solidFill>
                <a:latin typeface="Aptos"/>
              </a:rPr>
              <a:t>SECURE</a:t>
            </a:r>
            <a:r>
              <a:rPr lang="en-US" sz="1050" b="1" dirty="0">
                <a:solidFill>
                  <a:srgbClr val="FFFFFF"/>
                </a:solidFill>
                <a:latin typeface="Aptos"/>
              </a:rPr>
              <a:t>D</a:t>
            </a:r>
            <a:r>
              <a:rPr sz="1050" b="1" dirty="0">
                <a:solidFill>
                  <a:srgbClr val="FFFFFF"/>
                </a:solidFill>
                <a:latin typeface="Aptos"/>
              </a:rPr>
              <a:t>  →  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8D2DA"/>
                </a:solidFill>
                <a:latin typeface="Aptos"/>
              </a:rPr>
              <a:t>Prepared for Management |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f9244a5b-6efd-4ce4-affb-5541593f5106" origin="userSelected">
  <element uid="id_classification_generalbusiness" value=""/>
  <element uid="20e13584-1177-4de9-aa1c-56181d6ae5c9" value=""/>
</sisl>
</file>

<file path=customXml/item2.xml><?xml version="1.0" encoding="utf-8"?>
<WrappedLabelInfo xmlns:xsd="http://www.w3.org/2001/XMLSchema" xmlns:xsi="http://www.w3.org/2001/XMLSchema-instance" xmlns="http://www.boldonjames.com/2016/02/Classifier/internal/wrappedLabelInfo">
  <Value>PD94bWwgdmVyc2lvbj0iMS4wIiBlbmNvZGluZz0idXMtYXNjaWkiPz48TGFiZWxJbmZvWG1sUGFydCB4bWxuczp4c2Q9Imh0dHA6Ly93d3cudzMub3JnLzIwMDEvWE1MU2NoZW1hIiB4bWxuczp4c2k9Imh0dHA6Ly93d3cudzMub3JnLzIwMDEvWE1MU2NoZW1hLWluc3RhbmNlIiB4bWxucz0iaHR0cDovL3d3dy5ib2xkb25qYW1lcy5jb20vMjAxNi8wMi9DbGFzc2lmaWVyL2ludGVybmFsL2xhYmVsSW5mbyI+PGVsaD5FRExVdWowSG42NVM4MFFGeGY5eUlYR1ZrWGtOSnJpcTwvZWxoPjxjb25maWc+QURJQjwvY29uZmlnPjxwb2w+Q29uc3VtZXIgT3BlcmF0aW9ucyBOVTwvcG9sPjxzdW1tYXJ5PkMxIC0gSW50ZXJuYWwgQ29uc3VtZXIgT3BlcmF0aW9uczwvc3VtbWFyeT48YXBwPlBvd2VyUG9pbnQ8L2FwcD48U2lnbmF0dXJlVmFsaWQ+ZmFsc2U8L1NpZ25hdHVyZVZhbGlkPjwvTGFiZWxJbmZvWG1sUGFydD4=</Value>
  <Signature xmlns="http://www.w3.org/2000/09/xmldsig#">
    <SignedInfo>
      <CanonicalizationMethod Algorithm="http://www.w3.org/TR/2001/REC-xml-c14n-20010315"/>
      <SignatureMethod Algorithm="http://www.w3.org/2001/04/xmldsig-more#rsa-sha256"/>
      <Reference URI="">
        <Transforms>
          <Transform Algorithm="http://www.w3.org/2000/09/xmldsig#enveloped-signature"/>
        </Transforms>
        <DigestMethod Algorithm="http://www.w3.org/2001/04/xmlenc#sha256"/>
        <DigestValue>is2w26VeCHYfZs8lKXxdsOhqeRWCWx5j+3DIzYU2CN4=</DigestValue>
      </Reference>
      <Reference URI="#INFO">
        <DigestMethod Algorithm="http://www.w3.org/2001/04/xmlenc#sha256"/>
        <DigestValue>zyRcgE62Wf/myM8vS0wCj7X8xJ7J3tR5CdFHXEgCsq4=</DigestValue>
      </Reference>
    </SignedInfo>
    <SignatureValue>fAJV40QFh1ojaNxBM0tcSkW+NwMUk07ScE/ylhuguctZp3PeUpjKzxxcWMSU+t7Sksb+tBsLl6q6tjt2pdKS0Q==</SignatureValue>
    <Object Id="INFO">
      <ArrayOfString xmlns:xsd="http://www.w3.org/2001/XMLSchema" xmlns:xsi="http://www.w3.org/2001/XMLSchema-instance" xmlns="">
        <string>EDLUuj0Hn65S80QFxf9yIXGVkXkNJriq</string>
      </ArrayOfString>
    </Object>
  </Signature>
</WrappedLabelInfo>
</file>

<file path=customXml/itemProps1.xml><?xml version="1.0" encoding="utf-8"?>
<ds:datastoreItem xmlns:ds="http://schemas.openxmlformats.org/officeDocument/2006/customXml" ds:itemID="{9161E582-BCA0-4B06-99B4-CABE84578AD8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6B5285B4-0749-48F1-90CC-3374091F74CC}">
  <ds:schemaRefs>
    <ds:schemaRef ds:uri="http://www.w3.org/2001/XMLSchema"/>
    <ds:schemaRef ds:uri="http://www.boldonjames.com/2016/02/Classifier/internal/wrappedLabelInfo"/>
    <ds:schemaRef ds:uri="http://www.w3.org/2000/09/xmldsig#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890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Hamdy Mohamed</cp:lastModifiedBy>
  <cp:revision>9</cp:revision>
  <dcterms:created xsi:type="dcterms:W3CDTF">2013-01-27T09:14:16Z</dcterms:created>
  <dcterms:modified xsi:type="dcterms:W3CDTF">2026-09-10T08:57:35Z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297b356e-6c64-4024-b354-a3f95aa84311</vt:lpwstr>
  </property>
  <property fmtid="{D5CDD505-2E9C-101B-9397-08002B2CF9AE}" pid="3" name="bjClsUserRVM">
    <vt:lpwstr>[]</vt:lpwstr>
  </property>
  <property fmtid="{D5CDD505-2E9C-101B-9397-08002B2CF9AE}" pid="4" name="bjDocumentLabelXML">
    <vt:lpwstr>&lt;?xml version="1.0" encoding="us-ascii"?&gt;&lt;sisl xmlns:xsd="http://www.w3.org/2001/XMLSchema" xmlns:xsi="http://www.w3.org/2001/XMLSchema-instance" sislVersion="0" policy="f9244a5b-6efd-4ce4-affb-5541593f5106" origin="userSelected" xmlns="http://www.boldonj</vt:lpwstr>
  </property>
  <property fmtid="{D5CDD505-2E9C-101B-9397-08002B2CF9AE}" pid="5" name="bjDocumentLabelXML-0">
    <vt:lpwstr>ames.com/2008/01/sie/internal/label"&gt;&lt;element uid="id_classification_generalbusiness" value="" /&gt;&lt;element uid="20e13584-1177-4de9-aa1c-56181d6ae5c9" value="" /&gt;&lt;/sisl&gt;</vt:lpwstr>
  </property>
  <property fmtid="{D5CDD505-2E9C-101B-9397-08002B2CF9AE}" pid="6" name="bjDocumentSecurityLabel">
    <vt:lpwstr>[Consumer Operations C1 - Internal]</vt:lpwstr>
  </property>
  <property fmtid="{D5CDD505-2E9C-101B-9397-08002B2CF9AE}" pid="7" name="bjpmDocIH">
    <vt:lpwstr>/1ywUnU4HcjhHOj9EmNnaxlik/AnW8wH</vt:lpwstr>
  </property>
  <property fmtid="{D5CDD505-2E9C-101B-9397-08002B2CF9AE}" pid="8" name="bjSaver">
    <vt:lpwstr>hiSgxcdoycY5RcdaBFSuMt/3sNN2HRhf</vt:lpwstr>
  </property>
</Properties>
</file>